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e92ca88a-1497-4900-e0a3-c9cb3707c725}">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4A"/>
                </a:solidFill>
                <a:latin typeface="+mn-lt"/>
              </a:defRPr>
            </a:pPr>
            <a:r>
              <a:rPr sz="1400" b="0" i="0" u="none" strike="noStrike">
                <a:solidFill>
                  <a:srgbClr val="14234A"/>
                </a:solidFill>
                <a:latin typeface="+mn-lt"/>
              </a:rPr>
              <a:t>Cost of today's 24 open problems (RM)</a:t>
            </a:r>
          </a:p>
        </c:rich>
      </c:tx>
      <c:layout/>
      <c:overlay val="0"/>
    </c:title>
    <c:autoTitleDeleted val="0"/>
    <c:plotArea>
      <c:layout/>
      <c:barChart>
        <c:barDir val="col"/>
        <c:grouping val="clustered"/>
        <c:varyColors val="0"/>
        <c:ser>
          <c:idx val="0"/>
          <c:order val="0"/>
          <c:tx>
            <c:strRef>
              <c:f>Sheet1!$B$1</c:f>
              <c:strCache>
                <c:ptCount val="1"/>
                <c:pt idx="0">
                  <c:v>Cost</c:v>
                </c:pt>
              </c:strCache>
            </c:strRef>
          </c:tx>
          <c:spPr>
            <a:solidFill>
              <a:srgbClr val="0E7C86"/>
            </a:solidFill>
            <a:effectLst/>
          </c:spPr>
          <c:invertIfNegative val="0"/>
          <c:dLbls>
            <c:numFmt formatCode="&quot;RM &quot;#,##0" sourceLinked="0"/>
            <c:txPr>
              <a:bodyPr/>
              <a:lstStyle/>
              <a:p>
                <a:pPr>
                  <a:defRPr b="1" i="0" strike="noStrike" sz="1400" u="none">
                    <a:solidFill>
                      <a:srgbClr val="1B2238"/>
                    </a:solidFill>
                    <a:latin typeface="+mn-lt"/>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E8591F"/>
              </a:solidFill>
              <a:effectLst/>
            </c:spPr>
          </c:dPt>
          <c:cat>
            <c:multiLvlStrRef>
              <c:f>Sheet1!$A$2:$A$3</c:f>
              <c:multiLvlStrCache>
                <c:ptCount val="2"/>
                <c:lvl>
                  <c:pt idx="0">
                    <c:v>Fix early (planned)</c:v>
                  </c:pt>
                  <c:pt idx="1">
                    <c:v>Wait for failure (emergency)</c:v>
                  </c:pt>
                </c:lvl>
              </c:multiLvlStrCache>
            </c:multiLvlStrRef>
          </c:cat>
          <c:val>
            <c:numRef>
              <c:f>Sheet1!$B$2:$B$3</c:f>
              <c:numCache>
                <c:formatCode>General</c:formatCode>
                <c:ptCount val="2"/>
                <c:pt idx="0">
                  <c:v>89950</c:v>
                </c:pt>
                <c:pt idx="1">
                  <c:v>601400</c:v>
                </c:pt>
              </c:numCache>
            </c:numRef>
          </c:val>
        </c:ser>
        <c:dLbls>
          <c:numFmt formatCode="&quot;RM &quot;#,##0" sourceLinked="0"/>
          <c:txPr>
            <a:bodyPr/>
            <a:lstStyle/>
            <a:p>
              <a:pPr>
                <a:defRPr b="1" i="0" strike="noStrike" sz="1400" u="none">
                  <a:solidFill>
                    <a:srgbClr val="1B223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238"/>
                </a:solidFill>
                <a:latin typeface="+mn-lt"/>
              </a:defRPr>
            </a:pPr>
            <a:endParaRPr lang="en-US"/>
          </a:p>
        </c:txPr>
        <c:crossAx val="2094734552"/>
        <c:crosses val="autoZero"/>
        <c:auto val="1"/>
        <c:lblAlgn val="ctr"/>
        <c:noMultiLvlLbl val="1"/>
      </c:catAx>
      <c:valAx>
        <c:axId val="2094734552"/>
        <c:scaling>
          <c:orientation val="minMax"/>
          <c:max val="700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name] from [university]. MetroSense predicts, takes in and routes every maintenance problem in a Sime Darby Property township, so residents never have to chase a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resident who sees a broken streetlight or a blocked drain does not know who is responsible. There is no tracking, so they follow up again and again, and many faults are only found after they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SDP township managers and facilities engineers use MetroSense every day; the council, contractors and vendors receive clear work orders; and residents benefit most: they report once and are kept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MetroSense is one live map of every building, floor and street asset. It predicts failures, takes in reports from every channel, and routes each case to whoever fixes it, keeping reporters updated. This is the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residents use WhatsApp, the hotline or email and never hear back; typical maintenance software stays inside one organisation. MetroSense connects every channel and every owner, flags problems early from existing records, and keeps residents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Signals come in from records, inspections, any sensors, every report channel and the weather. The engine scores and forecasts every asset and merges reports. Each case goes to the right owner with location, model and photo. Reporters are updated, and each fix feeds back into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report once and are updated at every step. SDP catches problems early: fixing today's 24 open problems early costs about RM 90 thousand instead of about RM 600 thousand. Replacement advice saves about RM 193 thousand and 225 tonnes of CO2 a year. Simulated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already works. It needs only data SDP already keeps, one facilities champion and cloud hosting. We estimate about RM 51k for a three-month pilot, mostly the team and the SDP app integration, and about RM 42k a year per township after that. These are planning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three-month pilot at Ara Damansara, then live data and a trained model, then other SDP townships. Success means fewer follow-ups, faster resolution, more problems caught before a complaint and fewer emergencies.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one clear problem from the brief and solved it end to end, and it already works.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MS-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S-Content-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S 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91640"/>
            <a:ext cx="5577840" cy="192024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640080" y="3703320"/>
            <a:ext cx="5394960" cy="960120"/>
          </a:xfrm>
          <a:prstGeom prst="rect">
            <a:avLst/>
          </a:prstGeom>
          <a:noFill/>
          <a:ln/>
        </p:spPr>
        <p:txBody>
          <a:bodyPr wrap="square" rtlCol="0"/>
          <a:lstStyle>
            <a:lvl1pPr algn="l" indent="0" marL="0">
              <a:buNone/>
              <a:defRPr lang="en-US" sz="1700" dirty="0">
                <a:solidFill>
                  <a:schemeClr val="bg2"/>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S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pic>
        <p:nvPicPr>
          <p:cNvPr id="4" name="Image 0" descr="C:\Users\faiqs\AppData\Local\Temp\claude\C--Users-faiqs-Desktop-SIME-DARBY\1db49c24-6d29-4c60-bea1-a1554db1f55f\scratchpad\deck\img\brand-mark.png">    </p:cNvPr>
          <p:cNvPicPr>
            <a:picLocks noChangeAspect="1"/>
          </p:cNvPicPr>
          <p:nvPr/>
        </p:nvPicPr>
        <p:blipFill>
          <a:blip r:embed="rId1"/>
          <a:stretch>
            <a:fillRect/>
          </a:stretch>
        </p:blipFill>
        <p:spPr>
          <a:xfrm>
            <a:off x="548640" y="6382512"/>
            <a:ext cx="237744" cy="237744"/>
          </a:xfrm>
          <a:prstGeom prst="rect">
            <a:avLst/>
          </a:prstGeom>
        </p:spPr>
      </p:pic>
      <p:sp>
        <p:nvSpPr>
          <p:cNvPr id="5" name="Text 0"/>
          <p:cNvSpPr/>
          <p:nvPr/>
        </p:nvSpPr>
        <p:spPr>
          <a:xfrm>
            <a:off x="868680" y="6355080"/>
            <a:ext cx="7315200" cy="292608"/>
          </a:xfrm>
          <a:prstGeom prst="rect">
            <a:avLst/>
          </a:prstGeom>
          <a:noFill/>
          <a:ln/>
        </p:spPr>
        <p:txBody>
          <a:bodyPr wrap="square" lIns="0" tIns="0" rIns="0" bIns="0" rtlCol="0" anchor="ctr"/>
          <a:lstStyle/>
          <a:p>
            <a:pPr indent="0" marL="0">
              <a:buNone/>
            </a:pPr>
            <a:r>
              <a:rPr lang="en-US" sz="1000" dirty="0">
                <a:solidFill>
                  <a:srgbClr val="5B6377"/>
                </a:solidFill>
              </a:rPr>
              <a:t>MetroSense  ·  SDP University Hackathon 2026  ·  Concept demo, simulated data</a:t>
            </a:r>
            <a:endParaRPr lang="en-US" sz="10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S Content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pic>
        <p:nvPicPr>
          <p:cNvPr id="4" name="Image 0" descr="C:\Users\faiqs\AppData\Local\Temp\claude\C--Users-faiqs-Desktop-SIME-DARBY\1db49c24-6d29-4c60-bea1-a1554db1f55f\scratchpad\deck\img\brand-mark.png">    </p:cNvPr>
          <p:cNvPicPr>
            <a:picLocks noChangeAspect="1"/>
          </p:cNvPicPr>
          <p:nvPr/>
        </p:nvPicPr>
        <p:blipFill>
          <a:blip r:embed="rId1"/>
          <a:stretch>
            <a:fillRect/>
          </a:stretch>
        </p:blipFill>
        <p:spPr>
          <a:xfrm>
            <a:off x="548640" y="6382512"/>
            <a:ext cx="237744" cy="237744"/>
          </a:xfrm>
          <a:prstGeom prst="rect">
            <a:avLst/>
          </a:prstGeom>
        </p:spPr>
      </p:pic>
      <p:sp>
        <p:nvSpPr>
          <p:cNvPr id="5" name="Text 0"/>
          <p:cNvSpPr/>
          <p:nvPr/>
        </p:nvSpPr>
        <p:spPr>
          <a:xfrm>
            <a:off x="868680" y="6355080"/>
            <a:ext cx="7315200" cy="292608"/>
          </a:xfrm>
          <a:prstGeom prst="rect">
            <a:avLst/>
          </a:prstGeom>
          <a:noFill/>
          <a:ln/>
        </p:spPr>
        <p:txBody>
          <a:bodyPr wrap="square" lIns="0" tIns="0" rIns="0" bIns="0" rtlCol="0" anchor="ctr"/>
          <a:lstStyle/>
          <a:p>
            <a:pPr indent="0" marL="0">
              <a:buNone/>
            </a:pPr>
            <a:r>
              <a:rPr lang="en-US" sz="1000" dirty="0">
                <a:solidFill>
                  <a:srgbClr val="C9D3EA"/>
                </a:solidFill>
              </a:rPr>
              <a:t>MetroSense  ·  SDP University Hackathon 2026  ·  Concept demo, simulated data</a:t>
            </a:r>
            <a:endParaRPr lang="en-US" sz="10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C9D3E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image" Target="../media/image-1-2.png"/><Relationship Id="rId6" Type="http://schemas.openxmlformats.org/officeDocument/2006/relationships/image" Target="../media/image-1-2.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image" Target="../media/image-5-2.png"/><Relationship Id="rId6" Type="http://schemas.openxmlformats.org/officeDocument/2006/relationships/image" Target="../media/image-5-6.png"/><Relationship Id="rId7" Type="http://schemas.openxmlformats.org/officeDocument/2006/relationships/image" Target="../media/image-5-4.png"/><Relationship Id="rId8" Type="http://schemas.openxmlformats.org/officeDocument/2006/relationships/image" Target="../media/image-5-2.png"/><Relationship Id="rId9" Type="http://schemas.openxmlformats.org/officeDocument/2006/relationships/image" Target="../media/image-5-6.png"/><Relationship Id="rId10" Type="http://schemas.openxmlformats.org/officeDocument/2006/relationships/image" Target="../media/image-5-4.png"/><Relationship Id="rId11" Type="http://schemas.openxmlformats.org/officeDocument/2006/relationships/image" Target="../media/image-5-2.png"/><Relationship Id="rId12" Type="http://schemas.openxmlformats.org/officeDocument/2006/relationships/image" Target="../media/image-5-6.png"/><Relationship Id="rId13" Type="http://schemas.openxmlformats.org/officeDocument/2006/relationships/image" Target="../media/image-5-4.png"/><Relationship Id="rId14" Type="http://schemas.openxmlformats.org/officeDocument/2006/relationships/image" Target="../media/image-5-2.png"/><Relationship Id="rId15" Type="http://schemas.openxmlformats.org/officeDocument/2006/relationships/image" Target="../media/image-5-2.png"/><Relationship Id="rId16" Type="http://schemas.openxmlformats.org/officeDocument/2006/relationships/image" Target="../media/image-5-4.png"/><Relationship Id="rId17" Type="http://schemas.openxmlformats.org/officeDocument/2006/relationships/image" Target="../media/image-5-4.png"/><Relationship Id="rId18" Type="http://schemas.openxmlformats.org/officeDocument/2006/relationships/image" Target="../media/image-5-6.png"/><Relationship Id="rId19" Type="http://schemas.openxmlformats.org/officeDocument/2006/relationships/image" Target="../media/image-5-2.png"/><Relationship Id="rId20" Type="http://schemas.openxmlformats.org/officeDocument/2006/relationships/slideLayout" Target="../slideLayouts/slideLayout3.xml"/><Relationship Id="rId2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faiqs\AppData\Local\Temp\claude\C--Users-faiqs-Desktop-SIME-DARBY\1db49c24-6d29-4c60-bea1-a1554db1f55f\scratchpad\deck\img\brand-mark.png">    </p:cNvPr>
          <p:cNvPicPr>
            <a:picLocks noChangeAspect="1"/>
          </p:cNvPicPr>
          <p:nvPr/>
        </p:nvPicPr>
        <p:blipFill>
          <a:blip r:embed="rId1"/>
          <a:stretch>
            <a:fillRect/>
          </a:stretch>
        </p:blipFill>
        <p:spPr>
          <a:xfrm>
            <a:off x="640080" y="685800"/>
            <a:ext cx="658368" cy="658368"/>
          </a:xfrm>
          <a:prstGeom prst="rect">
            <a:avLst/>
          </a:prstGeom>
        </p:spPr>
      </p:pic>
      <p:sp>
        <p:nvSpPr>
          <p:cNvPr id="3" name="Text 0"/>
          <p:cNvSpPr txBox="1"/>
          <p:nvPr/>
        </p:nvSpPr>
        <p:spPr>
          <a:xfrm>
            <a:off x="1463040" y="731520"/>
            <a:ext cx="3657600" cy="566928"/>
          </a:xfrm>
          <a:prstGeom prst="rect">
            <a:avLst/>
          </a:prstGeom>
          <a:noFill/>
          <a:ln/>
        </p:spPr>
        <p:txBody>
          <a:bodyPr wrap="square" lIns="0" tIns="0" rIns="0" bIns="0" rtlCol="0" anchor="ctr"/>
          <a:lstStyle/>
          <a:p>
            <a:pPr indent="0" marL="0">
              <a:buNone/>
            </a:pPr>
            <a:r>
              <a:rPr lang="en-US" sz="2800" b="1" dirty="0">
                <a:solidFill>
                  <a:schemeClr val="bg1"/>
                </a:solidFill>
              </a:rPr>
              <a:t>MetroSense</a:t>
            </a:r>
            <a:endParaRPr lang="en-US" sz="2800" dirty="0"/>
          </a:p>
        </p:txBody>
      </p:sp>
      <p:sp>
        <p:nvSpPr>
          <p:cNvPr id="4" name="Text 0"/>
          <p:cNvSpPr/>
          <p:nvPr>
            <p:ph idx="100" type="title" hasCustomPrompt="1"/>
          </p:nvPr>
        </p:nvSpPr>
        <p:spPr>
          <a:xfrm>
            <a:off x="640080" y="1691640"/>
            <a:ext cx="5577840" cy="1920240"/>
          </a:xfrm>
          <a:prstGeom prst="rect">
            <a:avLst/>
          </a:prstGeom>
          <a:noFill/>
          <a:ln/>
        </p:spPr>
        <p:txBody>
          <a:bodyPr wrap="square" lIns="0" tIns="0" rIns="0" bIns="0" rtlCol="0" anchor="t"/>
          <a:lstStyle/>
          <a:p>
            <a:pPr algn="l" indent="0" marL="0">
              <a:buNone/>
            </a:pPr>
            <a:r>
              <a:rPr lang="en-US" sz="4200" b="1" dirty="0">
                <a:solidFill>
                  <a:schemeClr val="bg1"/>
                </a:solidFill>
              </a:rPr>
              <a:t>Predict, report and fix every township asset</a:t>
            </a:r>
            <a:endParaRPr lang="en-US" sz="4200" dirty="0"/>
          </a:p>
        </p:txBody>
      </p:sp>
      <p:sp>
        <p:nvSpPr>
          <p:cNvPr id="5" name="Text 0"/>
          <p:cNvSpPr/>
          <p:nvPr>
            <p:ph idx="101" type="body" hasCustomPrompt="1"/>
          </p:nvPr>
        </p:nvSpPr>
        <p:spPr>
          <a:xfrm>
            <a:off x="640080" y="3703320"/>
            <a:ext cx="5394960" cy="960120"/>
          </a:xfrm>
          <a:prstGeom prst="rect">
            <a:avLst/>
          </a:prstGeom>
          <a:noFill/>
          <a:ln/>
        </p:spPr>
        <p:txBody>
          <a:bodyPr wrap="square" lIns="0" tIns="0" rIns="0" bIns="0" rtlCol="0" anchor="t"/>
          <a:lstStyle/>
          <a:p>
            <a:pPr algn="l" indent="0" marL="0">
              <a:buNone/>
            </a:pPr>
            <a:r>
              <a:rPr lang="en-US" sz="1700" dirty="0">
                <a:solidFill>
                  <a:schemeClr val="bg2"/>
                </a:solidFill>
              </a:rPr>
              <a:t>A maintenance command centre for Sime Darby Property townships, so residents never have to chase a repair again.</a:t>
            </a:r>
            <a:endParaRPr lang="en-US" sz="1700" dirty="0"/>
          </a:p>
        </p:txBody>
      </p:sp>
      <p:sp>
        <p:nvSpPr>
          <p:cNvPr id="6" name="Text 3"/>
          <p:cNvSpPr txBox="1"/>
          <p:nvPr/>
        </p:nvSpPr>
        <p:spPr>
          <a:xfrm>
            <a:off x="640080" y="5120640"/>
            <a:ext cx="5577840" cy="320040"/>
          </a:xfrm>
          <a:prstGeom prst="rect">
            <a:avLst/>
          </a:prstGeom>
          <a:noFill/>
          <a:ln/>
        </p:spPr>
        <p:txBody>
          <a:bodyPr wrap="square" lIns="0" tIns="0" rIns="0" bIns="0" rtlCol="0" anchor="t"/>
          <a:lstStyle/>
          <a:p>
            <a:pPr indent="0" marL="0">
              <a:buNone/>
            </a:pPr>
            <a:r>
              <a:rPr lang="en-US" sz="1200" b="1" spc="150" kern="0" dirty="0">
                <a:solidFill>
                  <a:schemeClr val="accent3"/>
                </a:solidFill>
              </a:rPr>
              <a:t>SDP UNIVERSITY HACKATHON 2026  ·  PEOPLE THEME</a:t>
            </a:r>
            <a:endParaRPr lang="en-US" sz="1200" dirty="0"/>
          </a:p>
        </p:txBody>
      </p:sp>
      <p:sp>
        <p:nvSpPr>
          <p:cNvPr id="7" name="Text 4"/>
          <p:cNvSpPr txBox="1"/>
          <p:nvPr/>
        </p:nvSpPr>
        <p:spPr>
          <a:xfrm>
            <a:off x="640080" y="5486400"/>
            <a:ext cx="5577840" cy="274320"/>
          </a:xfrm>
          <a:prstGeom prst="rect">
            <a:avLst/>
          </a:prstGeom>
          <a:noFill/>
          <a:ln/>
        </p:spPr>
        <p:txBody>
          <a:bodyPr wrap="square" lIns="0" tIns="0" rIns="0" bIns="0" rtlCol="0" anchor="t"/>
          <a:lstStyle/>
          <a:p>
            <a:pPr indent="0" marL="0">
              <a:buNone/>
            </a:pPr>
            <a:r>
              <a:rPr lang="en-US" sz="1100" dirty="0">
                <a:solidFill>
                  <a:srgbClr val="C9D3EA"/>
                </a:solidFill>
              </a:rPr>
              <a:t>Concept demo with simulated data. Not an official Sime Darby Property product.</a:t>
            </a:r>
            <a:endParaRPr lang="en-US" sz="1100" dirty="0"/>
          </a:p>
        </p:txBody>
      </p:sp>
      <p:sp>
        <p:nvSpPr>
          <p:cNvPr id="8" name="Team card"/>
          <p:cNvSpPr/>
          <p:nvPr/>
        </p:nvSpPr>
        <p:spPr>
          <a:xfrm>
            <a:off x="6720840" y="685800"/>
            <a:ext cx="4892040" cy="5440680"/>
          </a:xfrm>
          <a:prstGeom prst="roundRect">
            <a:avLst>
              <a:gd name="adj" fmla="val 2243"/>
            </a:avLst>
          </a:prstGeom>
          <a:solidFill>
            <a:schemeClr val="bg1"/>
          </a:solidFill>
          <a:ln w="12700">
            <a:solidFill>
              <a:schemeClr val="bg1"/>
            </a:solidFill>
            <a:prstDash val="solid"/>
          </a:ln>
        </p:spPr>
      </p:sp>
      <p:sp>
        <p:nvSpPr>
          <p:cNvPr id="9" name="Text 6"/>
          <p:cNvSpPr txBox="1"/>
          <p:nvPr/>
        </p:nvSpPr>
        <p:spPr>
          <a:xfrm>
            <a:off x="7040880" y="960120"/>
            <a:ext cx="429768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TEAM</a:t>
            </a:r>
            <a:endParaRPr lang="en-US" sz="1200" dirty="0"/>
          </a:p>
        </p:txBody>
      </p:sp>
      <p:sp>
        <p:nvSpPr>
          <p:cNvPr id="10" name="Text 7"/>
          <p:cNvSpPr txBox="1"/>
          <p:nvPr/>
        </p:nvSpPr>
        <p:spPr>
          <a:xfrm>
            <a:off x="7040880" y="1261872"/>
            <a:ext cx="4297680" cy="457200"/>
          </a:xfrm>
          <a:prstGeom prst="rect">
            <a:avLst/>
          </a:prstGeom>
          <a:noFill/>
          <a:ln/>
        </p:spPr>
        <p:txBody>
          <a:bodyPr wrap="square" lIns="0" tIns="0" rIns="0" bIns="0" rtlCol="0" anchor="t"/>
          <a:lstStyle/>
          <a:p>
            <a:pPr indent="0" marL="0">
              <a:buNone/>
            </a:pPr>
            <a:r>
              <a:rPr lang="en-US" sz="2400" b="1" dirty="0">
                <a:solidFill>
                  <a:schemeClr val="tx2"/>
                </a:solidFill>
              </a:rPr>
              <a:t>[Team name]</a:t>
            </a:r>
            <a:endParaRPr lang="en-US" sz="2400" dirty="0"/>
          </a:p>
        </p:txBody>
      </p:sp>
      <p:sp>
        <p:nvSpPr>
          <p:cNvPr id="11" name="Text 8"/>
          <p:cNvSpPr txBox="1"/>
          <p:nvPr/>
        </p:nvSpPr>
        <p:spPr>
          <a:xfrm>
            <a:off x="7040880" y="1737360"/>
            <a:ext cx="4297680" cy="320040"/>
          </a:xfrm>
          <a:prstGeom prst="rect">
            <a:avLst/>
          </a:prstGeom>
          <a:noFill/>
          <a:ln/>
        </p:spPr>
        <p:txBody>
          <a:bodyPr wrap="square" lIns="0" tIns="0" rIns="0" bIns="0" rtlCol="0" anchor="t"/>
          <a:lstStyle/>
          <a:p>
            <a:pPr indent="0" marL="0">
              <a:buNone/>
            </a:pPr>
            <a:r>
              <a:rPr lang="en-US" sz="1500" dirty="0">
                <a:solidFill>
                  <a:srgbClr val="5B6377"/>
                </a:solidFill>
              </a:rPr>
              <a:t>[University]</a:t>
            </a:r>
            <a:endParaRPr lang="en-US" sz="1500" dirty="0"/>
          </a:p>
        </p:txBody>
      </p:sp>
      <p:sp>
        <p:nvSpPr>
          <p:cNvPr id="12" name="Shape 9"/>
          <p:cNvSpPr/>
          <p:nvPr/>
        </p:nvSpPr>
        <p:spPr>
          <a:xfrm>
            <a:off x="7040880" y="2240280"/>
            <a:ext cx="4251960" cy="0"/>
          </a:xfrm>
          <a:prstGeom prst="line">
            <a:avLst/>
          </a:prstGeom>
          <a:noFill/>
          <a:ln w="12700">
            <a:solidFill>
              <a:srgbClr val="DDE1E9"/>
            </a:solidFill>
            <a:prstDash val="solid"/>
          </a:ln>
        </p:spPr>
      </p:sp>
      <p:pic>
        <p:nvPicPr>
          <p:cNvPr id="13" name="Image 1" descr="C:\Users\faiqs\AppData\Local\Temp\claude\C--Users-faiqs-Desktop-SIME-DARBY\1db49c24-6d29-4c60-bea1-a1554db1f55f\scratchpad\deck\img\icn-users.png">    </p:cNvPr>
          <p:cNvPicPr>
            <a:picLocks noChangeAspect="1"/>
          </p:cNvPicPr>
          <p:nvPr/>
        </p:nvPicPr>
        <p:blipFill>
          <a:blip r:embed="rId2"/>
          <a:stretch>
            <a:fillRect/>
          </a:stretch>
        </p:blipFill>
        <p:spPr>
          <a:xfrm>
            <a:off x="7040880" y="2432304"/>
            <a:ext cx="365760" cy="365760"/>
          </a:xfrm>
          <a:prstGeom prst="rect">
            <a:avLst/>
          </a:prstGeom>
        </p:spPr>
      </p:pic>
      <p:sp>
        <p:nvSpPr>
          <p:cNvPr id="14" name="Text 10"/>
          <p:cNvSpPr txBox="1"/>
          <p:nvPr/>
        </p:nvSpPr>
        <p:spPr>
          <a:xfrm>
            <a:off x="7543800" y="2395728"/>
            <a:ext cx="3749040" cy="438912"/>
          </a:xfrm>
          <a:prstGeom prst="rect">
            <a:avLst/>
          </a:prstGeom>
          <a:noFill/>
          <a:ln/>
        </p:spPr>
        <p:txBody>
          <a:bodyPr wrap="square" lIns="0" tIns="0" rIns="0" bIns="0" rtlCol="0" anchor="ctr"/>
          <a:lstStyle/>
          <a:p>
            <a:pPr indent="0" marL="0">
              <a:buNone/>
            </a:pPr>
            <a:r>
              <a:rPr lang="en-US" sz="1500" b="1" dirty="0">
                <a:solidFill>
                  <a:schemeClr val="tx2"/>
                </a:solidFill>
              </a:rPr>
              <a:t>[Member name]</a:t>
            </a:r>
            <a:pPr indent="0" marL="0">
              <a:buNone/>
            </a:pPr>
            <a:r>
              <a:rPr lang="en-US" sz="1500" dirty="0">
                <a:solidFill>
                  <a:schemeClr val="tx1"/>
                </a:solidFill>
              </a:rPr>
              <a:t>  ·  Team leader</a:t>
            </a:r>
            <a:endParaRPr lang="en-US" sz="1500" dirty="0"/>
          </a:p>
        </p:txBody>
      </p:sp>
      <p:pic>
        <p:nvPicPr>
          <p:cNvPr id="15" name="Image 2" descr="C:\Users\faiqs\AppData\Local\Temp\claude\C--Users-faiqs-Desktop-SIME-DARBY\1db49c24-6d29-4c60-bea1-a1554db1f55f\scratchpad\deck\img\icn-users.png">    </p:cNvPr>
          <p:cNvPicPr>
            <a:picLocks noChangeAspect="1"/>
          </p:cNvPicPr>
          <p:nvPr/>
        </p:nvPicPr>
        <p:blipFill>
          <a:blip r:embed="rId3"/>
          <a:stretch>
            <a:fillRect/>
          </a:stretch>
        </p:blipFill>
        <p:spPr>
          <a:xfrm>
            <a:off x="7040880" y="2980944"/>
            <a:ext cx="365760" cy="365760"/>
          </a:xfrm>
          <a:prstGeom prst="rect">
            <a:avLst/>
          </a:prstGeom>
        </p:spPr>
      </p:pic>
      <p:sp>
        <p:nvSpPr>
          <p:cNvPr id="16" name="Text 11"/>
          <p:cNvSpPr txBox="1"/>
          <p:nvPr/>
        </p:nvSpPr>
        <p:spPr>
          <a:xfrm>
            <a:off x="7543800" y="2944368"/>
            <a:ext cx="3749040" cy="438912"/>
          </a:xfrm>
          <a:prstGeom prst="rect">
            <a:avLst/>
          </a:prstGeom>
          <a:noFill/>
          <a:ln/>
        </p:spPr>
        <p:txBody>
          <a:bodyPr wrap="square" lIns="0" tIns="0" rIns="0" bIns="0" rtlCol="0" anchor="ctr"/>
          <a:lstStyle/>
          <a:p>
            <a:pPr indent="0" marL="0">
              <a:buNone/>
            </a:pPr>
            <a:r>
              <a:rPr lang="en-US" sz="1500" b="1" dirty="0">
                <a:solidFill>
                  <a:schemeClr val="tx2"/>
                </a:solidFill>
              </a:rPr>
              <a:t>[Member name]</a:t>
            </a:r>
            <a:pPr indent="0" marL="0">
              <a:buNone/>
            </a:pPr>
            <a:r>
              <a:rPr lang="en-US" sz="1500" dirty="0">
                <a:solidFill>
                  <a:schemeClr val="tx1"/>
                </a:solidFill>
              </a:rPr>
              <a:t>  ·  [Role]</a:t>
            </a:r>
            <a:endParaRPr lang="en-US" sz="1500" dirty="0"/>
          </a:p>
        </p:txBody>
      </p:sp>
      <p:pic>
        <p:nvPicPr>
          <p:cNvPr id="17" name="Image 3" descr="C:\Users\faiqs\AppData\Local\Temp\claude\C--Users-faiqs-Desktop-SIME-DARBY\1db49c24-6d29-4c60-bea1-a1554db1f55f\scratchpad\deck\img\icn-users.png">    </p:cNvPr>
          <p:cNvPicPr>
            <a:picLocks noChangeAspect="1"/>
          </p:cNvPicPr>
          <p:nvPr/>
        </p:nvPicPr>
        <p:blipFill>
          <a:blip r:embed="rId4"/>
          <a:stretch>
            <a:fillRect/>
          </a:stretch>
        </p:blipFill>
        <p:spPr>
          <a:xfrm>
            <a:off x="7040880" y="3529584"/>
            <a:ext cx="365760" cy="365760"/>
          </a:xfrm>
          <a:prstGeom prst="rect">
            <a:avLst/>
          </a:prstGeom>
        </p:spPr>
      </p:pic>
      <p:sp>
        <p:nvSpPr>
          <p:cNvPr id="18" name="Text 12"/>
          <p:cNvSpPr txBox="1"/>
          <p:nvPr/>
        </p:nvSpPr>
        <p:spPr>
          <a:xfrm>
            <a:off x="7543800" y="3493008"/>
            <a:ext cx="3749040" cy="438912"/>
          </a:xfrm>
          <a:prstGeom prst="rect">
            <a:avLst/>
          </a:prstGeom>
          <a:noFill/>
          <a:ln/>
        </p:spPr>
        <p:txBody>
          <a:bodyPr wrap="square" lIns="0" tIns="0" rIns="0" bIns="0" rtlCol="0" anchor="ctr"/>
          <a:lstStyle/>
          <a:p>
            <a:pPr indent="0" marL="0">
              <a:buNone/>
            </a:pPr>
            <a:r>
              <a:rPr lang="en-US" sz="1500" b="1" dirty="0">
                <a:solidFill>
                  <a:schemeClr val="tx2"/>
                </a:solidFill>
              </a:rPr>
              <a:t>[Member name]</a:t>
            </a:r>
            <a:pPr indent="0" marL="0">
              <a:buNone/>
            </a:pPr>
            <a:r>
              <a:rPr lang="en-US" sz="1500" dirty="0">
                <a:solidFill>
                  <a:schemeClr val="tx1"/>
                </a:solidFill>
              </a:rPr>
              <a:t>  ·  [Role]</a:t>
            </a:r>
            <a:endParaRPr lang="en-US" sz="1500" dirty="0"/>
          </a:p>
        </p:txBody>
      </p:sp>
      <p:pic>
        <p:nvPicPr>
          <p:cNvPr id="19" name="Image 4" descr="C:\Users\faiqs\AppData\Local\Temp\claude\C--Users-faiqs-Desktop-SIME-DARBY\1db49c24-6d29-4c60-bea1-a1554db1f55f\scratchpad\deck\img\icn-users.png">    </p:cNvPr>
          <p:cNvPicPr>
            <a:picLocks noChangeAspect="1"/>
          </p:cNvPicPr>
          <p:nvPr/>
        </p:nvPicPr>
        <p:blipFill>
          <a:blip r:embed="rId5"/>
          <a:stretch>
            <a:fillRect/>
          </a:stretch>
        </p:blipFill>
        <p:spPr>
          <a:xfrm>
            <a:off x="7040880" y="4078224"/>
            <a:ext cx="365760" cy="365760"/>
          </a:xfrm>
          <a:prstGeom prst="rect">
            <a:avLst/>
          </a:prstGeom>
        </p:spPr>
      </p:pic>
      <p:sp>
        <p:nvSpPr>
          <p:cNvPr id="20" name="Text 13"/>
          <p:cNvSpPr txBox="1"/>
          <p:nvPr/>
        </p:nvSpPr>
        <p:spPr>
          <a:xfrm>
            <a:off x="7543800" y="4041648"/>
            <a:ext cx="3749040" cy="438912"/>
          </a:xfrm>
          <a:prstGeom prst="rect">
            <a:avLst/>
          </a:prstGeom>
          <a:noFill/>
          <a:ln/>
        </p:spPr>
        <p:txBody>
          <a:bodyPr wrap="square" lIns="0" tIns="0" rIns="0" bIns="0" rtlCol="0" anchor="ctr"/>
          <a:lstStyle/>
          <a:p>
            <a:pPr indent="0" marL="0">
              <a:buNone/>
            </a:pPr>
            <a:r>
              <a:rPr lang="en-US" sz="1500" b="1" dirty="0">
                <a:solidFill>
                  <a:schemeClr val="tx2"/>
                </a:solidFill>
              </a:rPr>
              <a:t>[Member name]</a:t>
            </a:r>
            <a:pPr indent="0" marL="0">
              <a:buNone/>
            </a:pPr>
            <a:r>
              <a:rPr lang="en-US" sz="1500" dirty="0">
                <a:solidFill>
                  <a:schemeClr val="tx1"/>
                </a:solidFill>
              </a:rPr>
              <a:t>  ·  [Role]</a:t>
            </a:r>
            <a:endParaRPr lang="en-US" sz="1500" dirty="0"/>
          </a:p>
        </p:txBody>
      </p:sp>
      <p:pic>
        <p:nvPicPr>
          <p:cNvPr id="21" name="Image 5" descr="C:\Users\faiqs\AppData\Local\Temp\claude\C--Users-faiqs-Desktop-SIME-DARBY\1db49c24-6d29-4c60-bea1-a1554db1f55f\scratchpad\deck\img\icn-users.png">    </p:cNvPr>
          <p:cNvPicPr>
            <a:picLocks noChangeAspect="1"/>
          </p:cNvPicPr>
          <p:nvPr/>
        </p:nvPicPr>
        <p:blipFill>
          <a:blip r:embed="rId6"/>
          <a:stretch>
            <a:fillRect/>
          </a:stretch>
        </p:blipFill>
        <p:spPr>
          <a:xfrm>
            <a:off x="7040880" y="4626864"/>
            <a:ext cx="365760" cy="365760"/>
          </a:xfrm>
          <a:prstGeom prst="rect">
            <a:avLst/>
          </a:prstGeom>
        </p:spPr>
      </p:pic>
      <p:sp>
        <p:nvSpPr>
          <p:cNvPr id="22" name="Text 14"/>
          <p:cNvSpPr txBox="1"/>
          <p:nvPr/>
        </p:nvSpPr>
        <p:spPr>
          <a:xfrm>
            <a:off x="7543800" y="4590288"/>
            <a:ext cx="3749040" cy="438912"/>
          </a:xfrm>
          <a:prstGeom prst="rect">
            <a:avLst/>
          </a:prstGeom>
          <a:noFill/>
          <a:ln/>
        </p:spPr>
        <p:txBody>
          <a:bodyPr wrap="square" lIns="0" tIns="0" rIns="0" bIns="0" rtlCol="0" anchor="ctr"/>
          <a:lstStyle/>
          <a:p>
            <a:pPr indent="0" marL="0">
              <a:buNone/>
            </a:pPr>
            <a:r>
              <a:rPr lang="en-US" sz="1500" b="1" dirty="0">
                <a:solidFill>
                  <a:schemeClr val="tx2"/>
                </a:solidFill>
              </a:rPr>
              <a:t>[Member name]</a:t>
            </a:r>
            <a:pPr indent="0" marL="0">
              <a:buNone/>
            </a:pPr>
            <a:r>
              <a:rPr lang="en-US" sz="1500" dirty="0">
                <a:solidFill>
                  <a:schemeClr val="tx1"/>
                </a:solidFill>
              </a:rPr>
              <a:t>  ·  [Role]</a:t>
            </a:r>
            <a:endParaRPr lang="en-US" sz="1500" dirty="0"/>
          </a:p>
        </p:txBody>
      </p:sp>
      <p:sp>
        <p:nvSpPr>
          <p:cNvPr id="23" name="Shape 15"/>
          <p:cNvSpPr/>
          <p:nvPr/>
        </p:nvSpPr>
        <p:spPr>
          <a:xfrm>
            <a:off x="7040880" y="5212080"/>
            <a:ext cx="4251960" cy="0"/>
          </a:xfrm>
          <a:prstGeom prst="line">
            <a:avLst/>
          </a:prstGeom>
          <a:noFill/>
          <a:ln w="12700">
            <a:solidFill>
              <a:srgbClr val="DDE1E9"/>
            </a:solidFill>
            <a:prstDash val="solid"/>
          </a:ln>
        </p:spPr>
      </p:sp>
      <p:sp>
        <p:nvSpPr>
          <p:cNvPr id="24" name="Text 16"/>
          <p:cNvSpPr txBox="1"/>
          <p:nvPr/>
        </p:nvSpPr>
        <p:spPr>
          <a:xfrm>
            <a:off x="7040880" y="5321808"/>
            <a:ext cx="4297680" cy="640080"/>
          </a:xfrm>
          <a:prstGeom prst="rect">
            <a:avLst/>
          </a:prstGeom>
          <a:noFill/>
          <a:ln/>
        </p:spPr>
        <p:txBody>
          <a:bodyPr wrap="square" lIns="0" tIns="0" rIns="0" bIns="0" rtlCol="0" anchor="t"/>
          <a:lstStyle/>
          <a:p>
            <a:pPr indent="0" marL="0">
              <a:buNone/>
            </a:pPr>
            <a:r>
              <a:rPr lang="en-US" sz="1300" dirty="0">
                <a:solidFill>
                  <a:schemeClr val="tx1"/>
                </a:solidFill>
              </a:rPr>
              <a:t>[name@university.edu.my]</a:t>
            </a:r>
            <a:endParaRPr lang="en-US" sz="1300" dirty="0"/>
          </a:p>
          <a:p>
            <a:pPr indent="0" marL="0">
              <a:buNone/>
            </a:pPr>
            <a:r>
              <a:rPr lang="en-US" sz="1300" dirty="0">
                <a:solidFill>
                  <a:schemeClr val="tx1"/>
                </a:solidFill>
              </a:rPr>
              <a:t>[+60 1X-XXX XXXX]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1"/>
                </a:solidFill>
              </a:rPr>
              <a:t>1  ·  THE PROBLEM</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tx2"/>
                </a:solidFill>
              </a:rPr>
              <a:t>Residents chase repairs because nobody knows who owns the fix</a:t>
            </a:r>
            <a:endParaRPr lang="en-US" sz="3200" dirty="0"/>
          </a:p>
        </p:txBody>
      </p:sp>
      <p:pic>
        <p:nvPicPr>
          <p:cNvPr id="4" name="Image 0" descr="C:\Users\faiqs\AppData\Local\Temp\claude\C--Users-faiqs-Desktop-SIME-DARBY\1db49c24-6d29-4c60-bea1-a1554db1f55f\scratchpad\deck\img\ic-phone.png">    </p:cNvPr>
          <p:cNvPicPr>
            <a:picLocks noChangeAspect="1"/>
          </p:cNvPicPr>
          <p:nvPr/>
        </p:nvPicPr>
        <p:blipFill>
          <a:blip r:embed="rId1"/>
          <a:stretch>
            <a:fillRect/>
          </a:stretch>
        </p:blipFill>
        <p:spPr>
          <a:xfrm>
            <a:off x="548640" y="1828800"/>
            <a:ext cx="640080" cy="640080"/>
          </a:xfrm>
          <a:prstGeom prst="rect">
            <a:avLst/>
          </a:prstGeom>
        </p:spPr>
      </p:pic>
      <p:sp>
        <p:nvSpPr>
          <p:cNvPr id="5" name="Text 2"/>
          <p:cNvSpPr txBox="1"/>
          <p:nvPr/>
        </p:nvSpPr>
        <p:spPr>
          <a:xfrm>
            <a:off x="1417320" y="1810512"/>
            <a:ext cx="5394960" cy="384048"/>
          </a:xfrm>
          <a:prstGeom prst="rect">
            <a:avLst/>
          </a:prstGeom>
          <a:noFill/>
          <a:ln/>
        </p:spPr>
        <p:txBody>
          <a:bodyPr wrap="square" lIns="0" tIns="0" rIns="0" bIns="0" rtlCol="0" anchor="t"/>
          <a:lstStyle/>
          <a:p>
            <a:pPr indent="0" marL="0">
              <a:buNone/>
            </a:pPr>
            <a:r>
              <a:rPr lang="en-US" sz="2000" b="1" dirty="0">
                <a:solidFill>
                  <a:schemeClr val="tx2"/>
                </a:solidFill>
              </a:rPr>
              <a:t>Who do I call?</a:t>
            </a:r>
            <a:endParaRPr lang="en-US" sz="2000" dirty="0"/>
          </a:p>
        </p:txBody>
      </p:sp>
      <p:sp>
        <p:nvSpPr>
          <p:cNvPr id="6" name="Text 3"/>
          <p:cNvSpPr txBox="1"/>
          <p:nvPr/>
        </p:nvSpPr>
        <p:spPr>
          <a:xfrm>
            <a:off x="1417320" y="2212848"/>
            <a:ext cx="5394960" cy="777240"/>
          </a:xfrm>
          <a:prstGeom prst="rect">
            <a:avLst/>
          </a:prstGeom>
          <a:noFill/>
          <a:ln/>
        </p:spPr>
        <p:txBody>
          <a:bodyPr wrap="square" lIns="0" tIns="0" rIns="0" bIns="0" rtlCol="0" anchor="t"/>
          <a:lstStyle/>
          <a:p>
            <a:pPr indent="0" marL="0">
              <a:buNone/>
            </a:pPr>
            <a:r>
              <a:rPr lang="en-US" sz="1500" dirty="0">
                <a:solidFill>
                  <a:schemeClr val="tx1"/>
                </a:solidFill>
              </a:rPr>
              <a:t>Streetlights belong to SDP, drains to the council, lifts to contractors, appliances to vendors.</a:t>
            </a:r>
            <a:endParaRPr lang="en-US" sz="1500" dirty="0"/>
          </a:p>
        </p:txBody>
      </p:sp>
      <p:pic>
        <p:nvPicPr>
          <p:cNvPr id="7" name="Image 1" descr="C:\Users\faiqs\AppData\Local\Temp\claude\C--Users-faiqs-Desktop-SIME-DARBY\1db49c24-6d29-4c60-bea1-a1554db1f55f\scratchpad\deck\img\ic-hourglass.png">    </p:cNvPr>
          <p:cNvPicPr>
            <a:picLocks noChangeAspect="1"/>
          </p:cNvPicPr>
          <p:nvPr/>
        </p:nvPicPr>
        <p:blipFill>
          <a:blip r:embed="rId2"/>
          <a:stretch>
            <a:fillRect/>
          </a:stretch>
        </p:blipFill>
        <p:spPr>
          <a:xfrm>
            <a:off x="548640" y="3200400"/>
            <a:ext cx="640080" cy="640080"/>
          </a:xfrm>
          <a:prstGeom prst="rect">
            <a:avLst/>
          </a:prstGeom>
        </p:spPr>
      </p:pic>
      <p:sp>
        <p:nvSpPr>
          <p:cNvPr id="8" name="Text 4"/>
          <p:cNvSpPr txBox="1"/>
          <p:nvPr/>
        </p:nvSpPr>
        <p:spPr>
          <a:xfrm>
            <a:off x="1417320" y="3182112"/>
            <a:ext cx="5394960" cy="384048"/>
          </a:xfrm>
          <a:prstGeom prst="rect">
            <a:avLst/>
          </a:prstGeom>
          <a:noFill/>
          <a:ln/>
        </p:spPr>
        <p:txBody>
          <a:bodyPr wrap="square" lIns="0" tIns="0" rIns="0" bIns="0" rtlCol="0" anchor="t"/>
          <a:lstStyle/>
          <a:p>
            <a:pPr indent="0" marL="0">
              <a:buNone/>
            </a:pPr>
            <a:r>
              <a:rPr lang="en-US" sz="2000" b="1" dirty="0">
                <a:solidFill>
                  <a:schemeClr val="tx2"/>
                </a:solidFill>
              </a:rPr>
              <a:t>Is anyone fixing it?</a:t>
            </a:r>
            <a:endParaRPr lang="en-US" sz="2000" dirty="0"/>
          </a:p>
        </p:txBody>
      </p:sp>
      <p:sp>
        <p:nvSpPr>
          <p:cNvPr id="9" name="Text 5"/>
          <p:cNvSpPr txBox="1"/>
          <p:nvPr/>
        </p:nvSpPr>
        <p:spPr>
          <a:xfrm>
            <a:off x="1417320" y="3584448"/>
            <a:ext cx="5394960" cy="777240"/>
          </a:xfrm>
          <a:prstGeom prst="rect">
            <a:avLst/>
          </a:prstGeom>
          <a:noFill/>
          <a:ln/>
        </p:spPr>
        <p:txBody>
          <a:bodyPr wrap="square" lIns="0" tIns="0" rIns="0" bIns="0" rtlCol="0" anchor="t"/>
          <a:lstStyle/>
          <a:p>
            <a:pPr indent="0" marL="0">
              <a:buNone/>
            </a:pPr>
            <a:r>
              <a:rPr lang="en-US" sz="1500" dirty="0">
                <a:solidFill>
                  <a:schemeClr val="tx1"/>
                </a:solidFill>
              </a:rPr>
              <a:t>Reports scatter across WhatsApp, hotlines and email with no tracking, so people follow up again and again.</a:t>
            </a:r>
            <a:endParaRPr lang="en-US" sz="1500" dirty="0"/>
          </a:p>
        </p:txBody>
      </p:sp>
      <p:pic>
        <p:nvPicPr>
          <p:cNvPr id="10" name="Image 2" descr="C:\Users\faiqs\AppData\Local\Temp\claude\C--Users-faiqs-Desktop-SIME-DARBY\1db49c24-6d29-4c60-bea1-a1554db1f55f\scratchpad\deck\img\ic-siren.png">    </p:cNvPr>
          <p:cNvPicPr>
            <a:picLocks noChangeAspect="1"/>
          </p:cNvPicPr>
          <p:nvPr/>
        </p:nvPicPr>
        <p:blipFill>
          <a:blip r:embed="rId3"/>
          <a:stretch>
            <a:fillRect/>
          </a:stretch>
        </p:blipFill>
        <p:spPr>
          <a:xfrm>
            <a:off x="548640" y="4572000"/>
            <a:ext cx="640080" cy="640080"/>
          </a:xfrm>
          <a:prstGeom prst="rect">
            <a:avLst/>
          </a:prstGeom>
        </p:spPr>
      </p:pic>
      <p:sp>
        <p:nvSpPr>
          <p:cNvPr id="11" name="Text 6"/>
          <p:cNvSpPr txBox="1"/>
          <p:nvPr/>
        </p:nvSpPr>
        <p:spPr>
          <a:xfrm>
            <a:off x="1417320" y="4553712"/>
            <a:ext cx="5394960" cy="384048"/>
          </a:xfrm>
          <a:prstGeom prst="rect">
            <a:avLst/>
          </a:prstGeom>
          <a:noFill/>
          <a:ln/>
        </p:spPr>
        <p:txBody>
          <a:bodyPr wrap="square" lIns="0" tIns="0" rIns="0" bIns="0" rtlCol="0" anchor="t"/>
          <a:lstStyle/>
          <a:p>
            <a:pPr indent="0" marL="0">
              <a:buNone/>
            </a:pPr>
            <a:r>
              <a:rPr lang="en-US" sz="2000" b="1" dirty="0">
                <a:solidFill>
                  <a:schemeClr val="tx2"/>
                </a:solidFill>
              </a:rPr>
              <a:t>Fixed only after it fails</a:t>
            </a:r>
            <a:endParaRPr lang="en-US" sz="2000" dirty="0"/>
          </a:p>
        </p:txBody>
      </p:sp>
      <p:sp>
        <p:nvSpPr>
          <p:cNvPr id="12" name="Text 7"/>
          <p:cNvSpPr txBox="1"/>
          <p:nvPr/>
        </p:nvSpPr>
        <p:spPr>
          <a:xfrm>
            <a:off x="1417320" y="4956048"/>
            <a:ext cx="5394960" cy="777240"/>
          </a:xfrm>
          <a:prstGeom prst="rect">
            <a:avLst/>
          </a:prstGeom>
          <a:noFill/>
          <a:ln/>
        </p:spPr>
        <p:txBody>
          <a:bodyPr wrap="square" lIns="0" tIns="0" rIns="0" bIns="0" rtlCol="0" anchor="t"/>
          <a:lstStyle/>
          <a:p>
            <a:pPr indent="0" marL="0">
              <a:buNone/>
            </a:pPr>
            <a:r>
              <a:rPr lang="en-US" sz="1500" dirty="0">
                <a:solidFill>
                  <a:schemeClr val="tx1"/>
                </a:solidFill>
              </a:rPr>
              <a:t>Faults surface only when someone complains, and emergency repairs cost far more.</a:t>
            </a:r>
            <a:endParaRPr lang="en-US" sz="1500" dirty="0"/>
          </a:p>
        </p:txBody>
      </p:sp>
      <p:sp>
        <p:nvSpPr>
          <p:cNvPr id="13" name="Why it matters"/>
          <p:cNvSpPr/>
          <p:nvPr/>
        </p:nvSpPr>
        <p:spPr>
          <a:xfrm>
            <a:off x="7406640" y="1828800"/>
            <a:ext cx="4206240" cy="3931920"/>
          </a:xfrm>
          <a:prstGeom prst="roundRect">
            <a:avLst>
              <a:gd name="adj" fmla="val 2791"/>
            </a:avLst>
          </a:prstGeom>
          <a:solidFill>
            <a:schemeClr val="tx2"/>
          </a:solidFill>
          <a:ln w="12700">
            <a:solidFill>
              <a:schemeClr val="tx2"/>
            </a:solidFill>
            <a:prstDash val="solid"/>
          </a:ln>
        </p:spPr>
      </p:sp>
      <p:pic>
        <p:nvPicPr>
          <p:cNvPr id="14" name="Image 3" descr="C:\Users\faiqs\AppData\Local\Temp\claude\C--Users-faiqs-Desktop-SIME-DARBY\1db49c24-6d29-4c60-bea1-a1554db1f55f\scratchpad\deck\img\ic-target.png">    </p:cNvPr>
          <p:cNvPicPr>
            <a:picLocks noChangeAspect="1"/>
          </p:cNvPicPr>
          <p:nvPr/>
        </p:nvPicPr>
        <p:blipFill>
          <a:blip r:embed="rId4"/>
          <a:stretch>
            <a:fillRect/>
          </a:stretch>
        </p:blipFill>
        <p:spPr>
          <a:xfrm>
            <a:off x="7772400" y="2194560"/>
            <a:ext cx="640080" cy="640080"/>
          </a:xfrm>
          <a:prstGeom prst="rect">
            <a:avLst/>
          </a:prstGeom>
        </p:spPr>
      </p:pic>
      <p:sp>
        <p:nvSpPr>
          <p:cNvPr id="15" name="Text 9"/>
          <p:cNvSpPr txBox="1"/>
          <p:nvPr/>
        </p:nvSpPr>
        <p:spPr>
          <a:xfrm>
            <a:off x="7772400" y="3063240"/>
            <a:ext cx="356616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WHAT WE MUST DELIVER</a:t>
            </a:r>
            <a:endParaRPr lang="en-US" sz="1200" dirty="0"/>
          </a:p>
        </p:txBody>
      </p:sp>
      <p:sp>
        <p:nvSpPr>
          <p:cNvPr id="16" name="Text 10"/>
          <p:cNvSpPr txBox="1"/>
          <p:nvPr/>
        </p:nvSpPr>
        <p:spPr>
          <a:xfrm>
            <a:off x="7772400" y="3429000"/>
            <a:ext cx="3566160" cy="1188720"/>
          </a:xfrm>
          <a:prstGeom prst="rect">
            <a:avLst/>
          </a:prstGeom>
          <a:noFill/>
          <a:ln/>
        </p:spPr>
        <p:txBody>
          <a:bodyPr wrap="square" lIns="0" tIns="0" rIns="0" bIns="0" rtlCol="0" anchor="t"/>
          <a:lstStyle/>
          <a:p>
            <a:pPr indent="0" marL="0">
              <a:buNone/>
            </a:pPr>
            <a:r>
              <a:rPr lang="en-US" sz="3000" b="1" dirty="0">
                <a:solidFill>
                  <a:schemeClr val="bg1"/>
                </a:solidFill>
              </a:rPr>
              <a:t>Fewer follow-ups.</a:t>
            </a:r>
            <a:endParaRPr lang="en-US" sz="3000" dirty="0"/>
          </a:p>
          <a:p>
            <a:pPr indent="0" marL="0">
              <a:buNone/>
            </a:pPr>
            <a:r>
              <a:rPr lang="en-US" sz="3000" b="1" dirty="0">
                <a:solidFill>
                  <a:schemeClr val="bg1"/>
                </a:solidFill>
              </a:rPr>
              <a:t>Faster resolution.</a:t>
            </a:r>
            <a:endParaRPr lang="en-US" sz="3000" dirty="0"/>
          </a:p>
        </p:txBody>
      </p:sp>
      <p:sp>
        <p:nvSpPr>
          <p:cNvPr id="17" name="Text 11"/>
          <p:cNvSpPr txBox="1"/>
          <p:nvPr/>
        </p:nvSpPr>
        <p:spPr>
          <a:xfrm>
            <a:off x="7772400" y="4709160"/>
            <a:ext cx="3566160" cy="822960"/>
          </a:xfrm>
          <a:prstGeom prst="rect">
            <a:avLst/>
          </a:prstGeom>
          <a:noFill/>
          <a:ln/>
        </p:spPr>
        <p:txBody>
          <a:bodyPr wrap="square" lIns="0" tIns="0" rIns="0" bIns="0" rtlCol="0" anchor="t"/>
          <a:lstStyle/>
          <a:p>
            <a:pPr indent="0" marL="0">
              <a:buNone/>
            </a:pPr>
            <a:r>
              <a:rPr lang="en-US" sz="1300" dirty="0">
                <a:solidFill>
                  <a:srgbClr val="C9D3EA"/>
                </a:solidFill>
              </a:rPr>
              <a:t>Residents lose time and trust; SDP pays more for emergencies than for planned repairs.</a:t>
            </a:r>
            <a:endParaRPr lang="en-US" sz="13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1"/>
                </a:solidFill>
              </a:rPr>
              <a:t>2  ·  TARGET USER</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tx2"/>
                </a:solidFill>
              </a:rPr>
              <a:t>Built for the people who report, sort and fix township problems</a:t>
            </a:r>
            <a:endParaRPr lang="en-US" sz="3200" dirty="0"/>
          </a:p>
        </p:txBody>
      </p:sp>
      <p:sp>
        <p:nvSpPr>
          <p:cNvPr id="4" name="Residents and visitors card"/>
          <p:cNvSpPr/>
          <p:nvPr/>
        </p:nvSpPr>
        <p:spPr>
          <a:xfrm>
            <a:off x="548640" y="1783080"/>
            <a:ext cx="2615184" cy="4251960"/>
          </a:xfrm>
          <a:prstGeom prst="roundRect">
            <a:avLst>
              <a:gd name="adj" fmla="val 4196"/>
            </a:avLst>
          </a:prstGeom>
          <a:solidFill>
            <a:schemeClr val="bg2"/>
          </a:solidFill>
          <a:ln w="12700">
            <a:solidFill>
              <a:schemeClr val="bg2"/>
            </a:solidFill>
            <a:prstDash val="solid"/>
          </a:ln>
        </p:spPr>
      </p:sp>
      <p:sp>
        <p:nvSpPr>
          <p:cNvPr id="5" name="Text 3"/>
          <p:cNvSpPr txBox="1"/>
          <p:nvPr/>
        </p:nvSpPr>
        <p:spPr>
          <a:xfrm>
            <a:off x="777240" y="1984248"/>
            <a:ext cx="2194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BENEFITS</a:t>
            </a:r>
            <a:endParaRPr lang="en-US" sz="1000" dirty="0"/>
          </a:p>
        </p:txBody>
      </p:sp>
      <p:pic>
        <p:nvPicPr>
          <p:cNvPr id="6" name="Image 0" descr="C:\Users\faiqs\AppData\Local\Temp\claude\C--Users-faiqs-Desktop-SIME-DARBY\1db49c24-6d29-4c60-bea1-a1554db1f55f\scratchpad\deck\img\ic-users.png">    </p:cNvPr>
          <p:cNvPicPr>
            <a:picLocks noChangeAspect="1"/>
          </p:cNvPicPr>
          <p:nvPr/>
        </p:nvPicPr>
        <p:blipFill>
          <a:blip r:embed="rId1"/>
          <a:stretch>
            <a:fillRect/>
          </a:stretch>
        </p:blipFill>
        <p:spPr>
          <a:xfrm>
            <a:off x="777240" y="2286000"/>
            <a:ext cx="502920" cy="502920"/>
          </a:xfrm>
          <a:prstGeom prst="rect">
            <a:avLst/>
          </a:prstGeom>
        </p:spPr>
      </p:pic>
      <p:sp>
        <p:nvSpPr>
          <p:cNvPr id="7" name="Text 4"/>
          <p:cNvSpPr txBox="1"/>
          <p:nvPr/>
        </p:nvSpPr>
        <p:spPr>
          <a:xfrm>
            <a:off x="777240" y="2880360"/>
            <a:ext cx="2194560" cy="594360"/>
          </a:xfrm>
          <a:prstGeom prst="rect">
            <a:avLst/>
          </a:prstGeom>
          <a:noFill/>
          <a:ln/>
        </p:spPr>
        <p:txBody>
          <a:bodyPr wrap="square" lIns="0" tIns="0" rIns="0" bIns="0" rtlCol="0" anchor="t"/>
          <a:lstStyle/>
          <a:p>
            <a:pPr indent="0" marL="0">
              <a:buNone/>
            </a:pPr>
            <a:r>
              <a:rPr lang="en-US" sz="1700" b="1" dirty="0">
                <a:solidFill>
                  <a:schemeClr val="tx2"/>
                </a:solidFill>
              </a:rPr>
              <a:t>Residents and visitors</a:t>
            </a:r>
            <a:endParaRPr lang="en-US" sz="1700" dirty="0"/>
          </a:p>
        </p:txBody>
      </p:sp>
      <p:sp>
        <p:nvSpPr>
          <p:cNvPr id="8" name="Text 5"/>
          <p:cNvSpPr txBox="1"/>
          <p:nvPr/>
        </p:nvSpPr>
        <p:spPr>
          <a:xfrm>
            <a:off x="777240" y="3520440"/>
            <a:ext cx="2194560" cy="219456"/>
          </a:xfrm>
          <a:prstGeom prst="rect">
            <a:avLst/>
          </a:prstGeom>
          <a:noFill/>
          <a:ln/>
        </p:spPr>
        <p:txBody>
          <a:bodyPr wrap="square" lIns="0" tIns="0" rIns="0" bIns="0" rtlCol="0" anchor="t"/>
          <a:lstStyle/>
          <a:p>
            <a:pPr indent="0" marL="0">
              <a:buNone/>
            </a:pPr>
            <a:r>
              <a:rPr lang="en-US" sz="1000" b="1" spc="150" kern="0" dirty="0">
                <a:solidFill>
                  <a:schemeClr val="accent1"/>
                </a:solidFill>
              </a:rPr>
              <a:t>TODAY</a:t>
            </a:r>
            <a:endParaRPr lang="en-US" sz="1000" dirty="0"/>
          </a:p>
        </p:txBody>
      </p:sp>
      <p:sp>
        <p:nvSpPr>
          <p:cNvPr id="9" name="Text 6"/>
          <p:cNvSpPr txBox="1"/>
          <p:nvPr/>
        </p:nvSpPr>
        <p:spPr>
          <a:xfrm>
            <a:off x="777240" y="3749040"/>
            <a:ext cx="2194560" cy="777240"/>
          </a:xfrm>
          <a:prstGeom prst="rect">
            <a:avLst/>
          </a:prstGeom>
          <a:noFill/>
          <a:ln/>
        </p:spPr>
        <p:txBody>
          <a:bodyPr wrap="square" lIns="0" tIns="0" rIns="0" bIns="0" rtlCol="0" anchor="t"/>
          <a:lstStyle/>
          <a:p>
            <a:pPr indent="0" marL="0">
              <a:buNone/>
            </a:pPr>
            <a:r>
              <a:rPr lang="en-US" sz="1350" dirty="0">
                <a:solidFill>
                  <a:schemeClr val="tx1"/>
                </a:solidFill>
              </a:rPr>
              <a:t>Do not know whom to contact; hear nothing back.</a:t>
            </a:r>
            <a:endParaRPr lang="en-US" sz="1350" dirty="0"/>
          </a:p>
        </p:txBody>
      </p:sp>
      <p:sp>
        <p:nvSpPr>
          <p:cNvPr id="10" name="Text 7"/>
          <p:cNvSpPr txBox="1"/>
          <p:nvPr/>
        </p:nvSpPr>
        <p:spPr>
          <a:xfrm>
            <a:off x="777240" y="4572000"/>
            <a:ext cx="2194560" cy="219456"/>
          </a:xfrm>
          <a:prstGeom prst="rect">
            <a:avLst/>
          </a:prstGeom>
          <a:noFill/>
          <a:ln/>
        </p:spPr>
        <p:txBody>
          <a:bodyPr wrap="square" lIns="0" tIns="0" rIns="0" bIns="0" rtlCol="0" anchor="t"/>
          <a:lstStyle/>
          <a:p>
            <a:pPr indent="0" marL="0">
              <a:buNone/>
            </a:pPr>
            <a:r>
              <a:rPr lang="en-US" sz="1000" b="1" spc="150" kern="0" dirty="0">
                <a:solidFill>
                  <a:schemeClr val="accent2"/>
                </a:solidFill>
              </a:rPr>
              <a:t>WITH METROSENSE</a:t>
            </a:r>
            <a:endParaRPr lang="en-US" sz="1000" dirty="0"/>
          </a:p>
        </p:txBody>
      </p:sp>
      <p:sp>
        <p:nvSpPr>
          <p:cNvPr id="11" name="Text 8"/>
          <p:cNvSpPr txBox="1"/>
          <p:nvPr/>
        </p:nvSpPr>
        <p:spPr>
          <a:xfrm>
            <a:off x="777240" y="4800600"/>
            <a:ext cx="2194560" cy="1143000"/>
          </a:xfrm>
          <a:prstGeom prst="rect">
            <a:avLst/>
          </a:prstGeom>
          <a:noFill/>
          <a:ln/>
        </p:spPr>
        <p:txBody>
          <a:bodyPr wrap="square" lIns="0" tIns="0" rIns="0" bIns="0" rtlCol="0" anchor="t"/>
          <a:lstStyle/>
          <a:p>
            <a:pPr indent="0" marL="0">
              <a:buNone/>
            </a:pPr>
            <a:r>
              <a:rPr lang="en-US" sz="1350" dirty="0">
                <a:solidFill>
                  <a:schemeClr val="tx1"/>
                </a:solidFill>
              </a:rPr>
              <a:t>Report once (SDP app or guest form, EN / BM) and get updates at every step.</a:t>
            </a:r>
            <a:endParaRPr lang="en-US" sz="1350" dirty="0"/>
          </a:p>
        </p:txBody>
      </p:sp>
      <p:sp>
        <p:nvSpPr>
          <p:cNvPr id="12" name="Township managers card"/>
          <p:cNvSpPr/>
          <p:nvPr/>
        </p:nvSpPr>
        <p:spPr>
          <a:xfrm>
            <a:off x="3364992" y="1783080"/>
            <a:ext cx="2615184" cy="4251960"/>
          </a:xfrm>
          <a:prstGeom prst="roundRect">
            <a:avLst>
              <a:gd name="adj" fmla="val 4196"/>
            </a:avLst>
          </a:prstGeom>
          <a:solidFill>
            <a:schemeClr val="bg2"/>
          </a:solidFill>
          <a:ln w="12700">
            <a:solidFill>
              <a:schemeClr val="bg2"/>
            </a:solidFill>
            <a:prstDash val="solid"/>
          </a:ln>
        </p:spPr>
      </p:sp>
      <p:sp>
        <p:nvSpPr>
          <p:cNvPr id="13" name="Text 10"/>
          <p:cNvSpPr txBox="1"/>
          <p:nvPr/>
        </p:nvSpPr>
        <p:spPr>
          <a:xfrm>
            <a:off x="3593592" y="1984248"/>
            <a:ext cx="2194560" cy="237744"/>
          </a:xfrm>
          <a:prstGeom prst="rect">
            <a:avLst/>
          </a:prstGeom>
          <a:noFill/>
          <a:ln/>
        </p:spPr>
        <p:txBody>
          <a:bodyPr wrap="square" lIns="0" tIns="0" rIns="0" bIns="0" rtlCol="0" anchor="t"/>
          <a:lstStyle/>
          <a:p>
            <a:pPr indent="0" marL="0">
              <a:buNone/>
            </a:pPr>
            <a:r>
              <a:rPr lang="en-US" sz="1000" b="1" spc="150" kern="0" dirty="0">
                <a:solidFill>
                  <a:schemeClr val="tx2"/>
                </a:solidFill>
              </a:rPr>
              <a:t>DAILY USER</a:t>
            </a:r>
            <a:endParaRPr lang="en-US" sz="1000" dirty="0"/>
          </a:p>
        </p:txBody>
      </p:sp>
      <p:pic>
        <p:nvPicPr>
          <p:cNvPr id="14" name="Image 1" descr="C:\Users\faiqs\AppData\Local\Temp\claude\C--Users-faiqs-Desktop-SIME-DARBY\1db49c24-6d29-4c60-bea1-a1554db1f55f\scratchpad\deck\img\ic-building.png">    </p:cNvPr>
          <p:cNvPicPr>
            <a:picLocks noChangeAspect="1"/>
          </p:cNvPicPr>
          <p:nvPr/>
        </p:nvPicPr>
        <p:blipFill>
          <a:blip r:embed="rId2"/>
          <a:stretch>
            <a:fillRect/>
          </a:stretch>
        </p:blipFill>
        <p:spPr>
          <a:xfrm>
            <a:off x="3593592" y="2286000"/>
            <a:ext cx="502920" cy="502920"/>
          </a:xfrm>
          <a:prstGeom prst="rect">
            <a:avLst/>
          </a:prstGeom>
        </p:spPr>
      </p:pic>
      <p:sp>
        <p:nvSpPr>
          <p:cNvPr id="15" name="Text 11"/>
          <p:cNvSpPr txBox="1"/>
          <p:nvPr/>
        </p:nvSpPr>
        <p:spPr>
          <a:xfrm>
            <a:off x="3593592" y="2880360"/>
            <a:ext cx="2194560" cy="594360"/>
          </a:xfrm>
          <a:prstGeom prst="rect">
            <a:avLst/>
          </a:prstGeom>
          <a:noFill/>
          <a:ln/>
        </p:spPr>
        <p:txBody>
          <a:bodyPr wrap="square" lIns="0" tIns="0" rIns="0" bIns="0" rtlCol="0" anchor="t"/>
          <a:lstStyle/>
          <a:p>
            <a:pPr indent="0" marL="0">
              <a:buNone/>
            </a:pPr>
            <a:r>
              <a:rPr lang="en-US" sz="1700" b="1" dirty="0">
                <a:solidFill>
                  <a:schemeClr val="tx2"/>
                </a:solidFill>
              </a:rPr>
              <a:t>Township managers</a:t>
            </a:r>
            <a:endParaRPr lang="en-US" sz="1700" dirty="0"/>
          </a:p>
        </p:txBody>
      </p:sp>
      <p:sp>
        <p:nvSpPr>
          <p:cNvPr id="16" name="Text 12"/>
          <p:cNvSpPr txBox="1"/>
          <p:nvPr/>
        </p:nvSpPr>
        <p:spPr>
          <a:xfrm>
            <a:off x="3593592" y="3520440"/>
            <a:ext cx="2194560" cy="219456"/>
          </a:xfrm>
          <a:prstGeom prst="rect">
            <a:avLst/>
          </a:prstGeom>
          <a:noFill/>
          <a:ln/>
        </p:spPr>
        <p:txBody>
          <a:bodyPr wrap="square" lIns="0" tIns="0" rIns="0" bIns="0" rtlCol="0" anchor="t"/>
          <a:lstStyle/>
          <a:p>
            <a:pPr indent="0" marL="0">
              <a:buNone/>
            </a:pPr>
            <a:r>
              <a:rPr lang="en-US" sz="1000" b="1" spc="150" kern="0" dirty="0">
                <a:solidFill>
                  <a:schemeClr val="accent1"/>
                </a:solidFill>
              </a:rPr>
              <a:t>TODAY</a:t>
            </a:r>
            <a:endParaRPr lang="en-US" sz="1000" dirty="0"/>
          </a:p>
        </p:txBody>
      </p:sp>
      <p:sp>
        <p:nvSpPr>
          <p:cNvPr id="17" name="Text 13"/>
          <p:cNvSpPr txBox="1"/>
          <p:nvPr/>
        </p:nvSpPr>
        <p:spPr>
          <a:xfrm>
            <a:off x="3593592" y="3749040"/>
            <a:ext cx="2194560" cy="777240"/>
          </a:xfrm>
          <a:prstGeom prst="rect">
            <a:avLst/>
          </a:prstGeom>
          <a:noFill/>
          <a:ln/>
        </p:spPr>
        <p:txBody>
          <a:bodyPr wrap="square" lIns="0" tIns="0" rIns="0" bIns="0" rtlCol="0" anchor="t"/>
          <a:lstStyle/>
          <a:p>
            <a:pPr indent="0" marL="0">
              <a:buNone/>
            </a:pPr>
            <a:r>
              <a:rPr lang="en-US" sz="1350" dirty="0">
                <a:solidFill>
                  <a:schemeClr val="tx1"/>
                </a:solidFill>
              </a:rPr>
              <a:t>Reports scattered across channels; problems found late.</a:t>
            </a:r>
            <a:endParaRPr lang="en-US" sz="1350" dirty="0"/>
          </a:p>
        </p:txBody>
      </p:sp>
      <p:sp>
        <p:nvSpPr>
          <p:cNvPr id="18" name="Text 14"/>
          <p:cNvSpPr txBox="1"/>
          <p:nvPr/>
        </p:nvSpPr>
        <p:spPr>
          <a:xfrm>
            <a:off x="3593592" y="4572000"/>
            <a:ext cx="2194560" cy="219456"/>
          </a:xfrm>
          <a:prstGeom prst="rect">
            <a:avLst/>
          </a:prstGeom>
          <a:noFill/>
          <a:ln/>
        </p:spPr>
        <p:txBody>
          <a:bodyPr wrap="square" lIns="0" tIns="0" rIns="0" bIns="0" rtlCol="0" anchor="t"/>
          <a:lstStyle/>
          <a:p>
            <a:pPr indent="0" marL="0">
              <a:buNone/>
            </a:pPr>
            <a:r>
              <a:rPr lang="en-US" sz="1000" b="1" spc="150" kern="0" dirty="0">
                <a:solidFill>
                  <a:schemeClr val="accent2"/>
                </a:solidFill>
              </a:rPr>
              <a:t>WITH METROSENSE</a:t>
            </a:r>
            <a:endParaRPr lang="en-US" sz="1000" dirty="0"/>
          </a:p>
        </p:txBody>
      </p:sp>
      <p:sp>
        <p:nvSpPr>
          <p:cNvPr id="19" name="Text 15"/>
          <p:cNvSpPr txBox="1"/>
          <p:nvPr/>
        </p:nvSpPr>
        <p:spPr>
          <a:xfrm>
            <a:off x="3593592" y="4800600"/>
            <a:ext cx="2194560" cy="1143000"/>
          </a:xfrm>
          <a:prstGeom prst="rect">
            <a:avLst/>
          </a:prstGeom>
          <a:noFill/>
          <a:ln/>
        </p:spPr>
        <p:txBody>
          <a:bodyPr wrap="square" lIns="0" tIns="0" rIns="0" bIns="0" rtlCol="0" anchor="t"/>
          <a:lstStyle/>
          <a:p>
            <a:pPr indent="0" marL="0">
              <a:buNone/>
            </a:pPr>
            <a:r>
              <a:rPr lang="en-US" sz="1350" dirty="0">
                <a:solidFill>
                  <a:schemeClr val="tx1"/>
                </a:solidFill>
              </a:rPr>
              <a:t>One prioritised queue, with risks flagged before anyone complains.</a:t>
            </a:r>
            <a:endParaRPr lang="en-US" sz="1350" dirty="0"/>
          </a:p>
        </p:txBody>
      </p:sp>
      <p:sp>
        <p:nvSpPr>
          <p:cNvPr id="20" name="Facilities engineers card"/>
          <p:cNvSpPr/>
          <p:nvPr/>
        </p:nvSpPr>
        <p:spPr>
          <a:xfrm>
            <a:off x="6181344" y="1783080"/>
            <a:ext cx="2615184" cy="4251960"/>
          </a:xfrm>
          <a:prstGeom prst="roundRect">
            <a:avLst>
              <a:gd name="adj" fmla="val 4196"/>
            </a:avLst>
          </a:prstGeom>
          <a:solidFill>
            <a:schemeClr val="bg2"/>
          </a:solidFill>
          <a:ln w="12700">
            <a:solidFill>
              <a:schemeClr val="bg2"/>
            </a:solidFill>
            <a:prstDash val="solid"/>
          </a:ln>
        </p:spPr>
      </p:sp>
      <p:sp>
        <p:nvSpPr>
          <p:cNvPr id="21" name="Text 17"/>
          <p:cNvSpPr txBox="1"/>
          <p:nvPr/>
        </p:nvSpPr>
        <p:spPr>
          <a:xfrm>
            <a:off x="6409944" y="1984248"/>
            <a:ext cx="2194560" cy="237744"/>
          </a:xfrm>
          <a:prstGeom prst="rect">
            <a:avLst/>
          </a:prstGeom>
          <a:noFill/>
          <a:ln/>
        </p:spPr>
        <p:txBody>
          <a:bodyPr wrap="square" lIns="0" tIns="0" rIns="0" bIns="0" rtlCol="0" anchor="t"/>
          <a:lstStyle/>
          <a:p>
            <a:pPr indent="0" marL="0">
              <a:buNone/>
            </a:pPr>
            <a:r>
              <a:rPr lang="en-US" sz="1000" b="1" spc="150" kern="0" dirty="0">
                <a:solidFill>
                  <a:schemeClr val="tx2"/>
                </a:solidFill>
              </a:rPr>
              <a:t>DAILY USER</a:t>
            </a:r>
            <a:endParaRPr lang="en-US" sz="1000" dirty="0"/>
          </a:p>
        </p:txBody>
      </p:sp>
      <p:pic>
        <p:nvPicPr>
          <p:cNvPr id="22" name="Image 2" descr="C:\Users\faiqs\AppData\Local\Temp\claude\C--Users-faiqs-Desktop-SIME-DARBY\1db49c24-6d29-4c60-bea1-a1554db1f55f\scratchpad\deck\img\ic-wrench.png">    </p:cNvPr>
          <p:cNvPicPr>
            <a:picLocks noChangeAspect="1"/>
          </p:cNvPicPr>
          <p:nvPr/>
        </p:nvPicPr>
        <p:blipFill>
          <a:blip r:embed="rId3"/>
          <a:stretch>
            <a:fillRect/>
          </a:stretch>
        </p:blipFill>
        <p:spPr>
          <a:xfrm>
            <a:off x="6409944" y="2286000"/>
            <a:ext cx="502920" cy="502920"/>
          </a:xfrm>
          <a:prstGeom prst="rect">
            <a:avLst/>
          </a:prstGeom>
        </p:spPr>
      </p:pic>
      <p:sp>
        <p:nvSpPr>
          <p:cNvPr id="23" name="Text 18"/>
          <p:cNvSpPr txBox="1"/>
          <p:nvPr/>
        </p:nvSpPr>
        <p:spPr>
          <a:xfrm>
            <a:off x="6409944" y="2880360"/>
            <a:ext cx="2194560" cy="594360"/>
          </a:xfrm>
          <a:prstGeom prst="rect">
            <a:avLst/>
          </a:prstGeom>
          <a:noFill/>
          <a:ln/>
        </p:spPr>
        <p:txBody>
          <a:bodyPr wrap="square" lIns="0" tIns="0" rIns="0" bIns="0" rtlCol="0" anchor="t"/>
          <a:lstStyle/>
          <a:p>
            <a:pPr indent="0" marL="0">
              <a:buNone/>
            </a:pPr>
            <a:r>
              <a:rPr lang="en-US" sz="1700" b="1" dirty="0">
                <a:solidFill>
                  <a:schemeClr val="tx2"/>
                </a:solidFill>
              </a:rPr>
              <a:t>Facilities engineers</a:t>
            </a:r>
            <a:endParaRPr lang="en-US" sz="1700" dirty="0"/>
          </a:p>
        </p:txBody>
      </p:sp>
      <p:sp>
        <p:nvSpPr>
          <p:cNvPr id="24" name="Text 19"/>
          <p:cNvSpPr txBox="1"/>
          <p:nvPr/>
        </p:nvSpPr>
        <p:spPr>
          <a:xfrm>
            <a:off x="6409944" y="3520440"/>
            <a:ext cx="2194560" cy="219456"/>
          </a:xfrm>
          <a:prstGeom prst="rect">
            <a:avLst/>
          </a:prstGeom>
          <a:noFill/>
          <a:ln/>
        </p:spPr>
        <p:txBody>
          <a:bodyPr wrap="square" lIns="0" tIns="0" rIns="0" bIns="0" rtlCol="0" anchor="t"/>
          <a:lstStyle/>
          <a:p>
            <a:pPr indent="0" marL="0">
              <a:buNone/>
            </a:pPr>
            <a:r>
              <a:rPr lang="en-US" sz="1000" b="1" spc="150" kern="0" dirty="0">
                <a:solidFill>
                  <a:schemeClr val="accent1"/>
                </a:solidFill>
              </a:rPr>
              <a:t>TODAY</a:t>
            </a:r>
            <a:endParaRPr lang="en-US" sz="1000" dirty="0"/>
          </a:p>
        </p:txBody>
      </p:sp>
      <p:sp>
        <p:nvSpPr>
          <p:cNvPr id="25" name="Text 20"/>
          <p:cNvSpPr txBox="1"/>
          <p:nvPr/>
        </p:nvSpPr>
        <p:spPr>
          <a:xfrm>
            <a:off x="6409944" y="3749040"/>
            <a:ext cx="2194560" cy="777240"/>
          </a:xfrm>
          <a:prstGeom prst="rect">
            <a:avLst/>
          </a:prstGeom>
          <a:noFill/>
          <a:ln/>
        </p:spPr>
        <p:txBody>
          <a:bodyPr wrap="square" lIns="0" tIns="0" rIns="0" bIns="0" rtlCol="0" anchor="t"/>
          <a:lstStyle/>
          <a:p>
            <a:pPr indent="0" marL="0">
              <a:buNone/>
            </a:pPr>
            <a:r>
              <a:rPr lang="en-US" sz="1350" dirty="0">
                <a:solidFill>
                  <a:schemeClr val="tx1"/>
                </a:solidFill>
              </a:rPr>
              <a:t>Reactive call-outs, few sensors, paper records.</a:t>
            </a:r>
            <a:endParaRPr lang="en-US" sz="1350" dirty="0"/>
          </a:p>
        </p:txBody>
      </p:sp>
      <p:sp>
        <p:nvSpPr>
          <p:cNvPr id="26" name="Text 21"/>
          <p:cNvSpPr txBox="1"/>
          <p:nvPr/>
        </p:nvSpPr>
        <p:spPr>
          <a:xfrm>
            <a:off x="6409944" y="4572000"/>
            <a:ext cx="2194560" cy="219456"/>
          </a:xfrm>
          <a:prstGeom prst="rect">
            <a:avLst/>
          </a:prstGeom>
          <a:noFill/>
          <a:ln/>
        </p:spPr>
        <p:txBody>
          <a:bodyPr wrap="square" lIns="0" tIns="0" rIns="0" bIns="0" rtlCol="0" anchor="t"/>
          <a:lstStyle/>
          <a:p>
            <a:pPr indent="0" marL="0">
              <a:buNone/>
            </a:pPr>
            <a:r>
              <a:rPr lang="en-US" sz="1000" b="1" spc="150" kern="0" dirty="0">
                <a:solidFill>
                  <a:schemeClr val="accent2"/>
                </a:solidFill>
              </a:rPr>
              <a:t>WITH METROSENSE</a:t>
            </a:r>
            <a:endParaRPr lang="en-US" sz="1000" dirty="0"/>
          </a:p>
        </p:txBody>
      </p:sp>
      <p:sp>
        <p:nvSpPr>
          <p:cNvPr id="27" name="Text 22"/>
          <p:cNvSpPr txBox="1"/>
          <p:nvPr/>
        </p:nvSpPr>
        <p:spPr>
          <a:xfrm>
            <a:off x="6409944" y="4800600"/>
            <a:ext cx="2194560" cy="1143000"/>
          </a:xfrm>
          <a:prstGeom prst="rect">
            <a:avLst/>
          </a:prstGeom>
          <a:noFill/>
          <a:ln/>
        </p:spPr>
        <p:txBody>
          <a:bodyPr wrap="square" lIns="0" tIns="0" rIns="0" bIns="0" rtlCol="0" anchor="t"/>
          <a:lstStyle/>
          <a:p>
            <a:pPr indent="0" marL="0">
              <a:buNone/>
            </a:pPr>
            <a:r>
              <a:rPr lang="en-US" sz="1350" dirty="0">
                <a:solidFill>
                  <a:schemeClr val="tx1"/>
                </a:solidFill>
              </a:rPr>
              <a:t>Their team's cases with evidence and what to fix first.</a:t>
            </a:r>
            <a:endParaRPr lang="en-US" sz="1350" dirty="0"/>
          </a:p>
        </p:txBody>
      </p:sp>
      <p:sp>
        <p:nvSpPr>
          <p:cNvPr id="28" name="Council, contractors, vendors card"/>
          <p:cNvSpPr/>
          <p:nvPr/>
        </p:nvSpPr>
        <p:spPr>
          <a:xfrm>
            <a:off x="8997696" y="1783080"/>
            <a:ext cx="2615184" cy="4251960"/>
          </a:xfrm>
          <a:prstGeom prst="roundRect">
            <a:avLst>
              <a:gd name="adj" fmla="val 4196"/>
            </a:avLst>
          </a:prstGeom>
          <a:solidFill>
            <a:schemeClr val="bg2"/>
          </a:solidFill>
          <a:ln w="12700">
            <a:solidFill>
              <a:schemeClr val="bg2"/>
            </a:solidFill>
            <a:prstDash val="solid"/>
          </a:ln>
        </p:spPr>
      </p:sp>
      <p:sp>
        <p:nvSpPr>
          <p:cNvPr id="29" name="Text 24"/>
          <p:cNvSpPr txBox="1"/>
          <p:nvPr/>
        </p:nvSpPr>
        <p:spPr>
          <a:xfrm>
            <a:off x="9226296" y="1984248"/>
            <a:ext cx="2194560" cy="237744"/>
          </a:xfrm>
          <a:prstGeom prst="rect">
            <a:avLst/>
          </a:prstGeom>
          <a:noFill/>
          <a:ln/>
        </p:spPr>
        <p:txBody>
          <a:bodyPr wrap="square" lIns="0" tIns="0" rIns="0" bIns="0" rtlCol="0" anchor="t"/>
          <a:lstStyle/>
          <a:p>
            <a:pPr indent="0" marL="0">
              <a:buNone/>
            </a:pPr>
            <a:r>
              <a:rPr lang="en-US" sz="1000" b="1" spc="150" kern="0" dirty="0">
                <a:solidFill>
                  <a:schemeClr val="accent4"/>
                </a:solidFill>
              </a:rPr>
              <a:t>RECEIVES WORK</a:t>
            </a:r>
            <a:endParaRPr lang="en-US" sz="1000" dirty="0"/>
          </a:p>
        </p:txBody>
      </p:sp>
      <p:pic>
        <p:nvPicPr>
          <p:cNvPr id="30" name="Image 3" descr="C:\Users\faiqs\AppData\Local\Temp\claude\C--Users-faiqs-Desktop-SIME-DARBY\1db49c24-6d29-4c60-bea1-a1554db1f55f\scratchpad\deck\img\ic-handshake.png">    </p:cNvPr>
          <p:cNvPicPr>
            <a:picLocks noChangeAspect="1"/>
          </p:cNvPicPr>
          <p:nvPr/>
        </p:nvPicPr>
        <p:blipFill>
          <a:blip r:embed="rId4"/>
          <a:stretch>
            <a:fillRect/>
          </a:stretch>
        </p:blipFill>
        <p:spPr>
          <a:xfrm>
            <a:off x="9226296" y="2286000"/>
            <a:ext cx="502920" cy="502920"/>
          </a:xfrm>
          <a:prstGeom prst="rect">
            <a:avLst/>
          </a:prstGeom>
        </p:spPr>
      </p:pic>
      <p:sp>
        <p:nvSpPr>
          <p:cNvPr id="31" name="Text 25"/>
          <p:cNvSpPr txBox="1"/>
          <p:nvPr/>
        </p:nvSpPr>
        <p:spPr>
          <a:xfrm>
            <a:off x="9226296" y="2880360"/>
            <a:ext cx="2194560" cy="594360"/>
          </a:xfrm>
          <a:prstGeom prst="rect">
            <a:avLst/>
          </a:prstGeom>
          <a:noFill/>
          <a:ln/>
        </p:spPr>
        <p:txBody>
          <a:bodyPr wrap="square" lIns="0" tIns="0" rIns="0" bIns="0" rtlCol="0" anchor="t"/>
          <a:lstStyle/>
          <a:p>
            <a:pPr indent="0" marL="0">
              <a:buNone/>
            </a:pPr>
            <a:r>
              <a:rPr lang="en-US" sz="1700" b="1" dirty="0">
                <a:solidFill>
                  <a:schemeClr val="tx2"/>
                </a:solidFill>
              </a:rPr>
              <a:t>Council, contractors, vendors</a:t>
            </a:r>
            <a:endParaRPr lang="en-US" sz="1700" dirty="0"/>
          </a:p>
        </p:txBody>
      </p:sp>
      <p:sp>
        <p:nvSpPr>
          <p:cNvPr id="32" name="Text 26"/>
          <p:cNvSpPr txBox="1"/>
          <p:nvPr/>
        </p:nvSpPr>
        <p:spPr>
          <a:xfrm>
            <a:off x="9226296" y="3520440"/>
            <a:ext cx="2194560" cy="219456"/>
          </a:xfrm>
          <a:prstGeom prst="rect">
            <a:avLst/>
          </a:prstGeom>
          <a:noFill/>
          <a:ln/>
        </p:spPr>
        <p:txBody>
          <a:bodyPr wrap="square" lIns="0" tIns="0" rIns="0" bIns="0" rtlCol="0" anchor="t"/>
          <a:lstStyle/>
          <a:p>
            <a:pPr indent="0" marL="0">
              <a:buNone/>
            </a:pPr>
            <a:r>
              <a:rPr lang="en-US" sz="1000" b="1" spc="150" kern="0" dirty="0">
                <a:solidFill>
                  <a:schemeClr val="accent1"/>
                </a:solidFill>
              </a:rPr>
              <a:t>TODAY</a:t>
            </a:r>
            <a:endParaRPr lang="en-US" sz="1000" dirty="0"/>
          </a:p>
        </p:txBody>
      </p:sp>
      <p:sp>
        <p:nvSpPr>
          <p:cNvPr id="33" name="Text 27"/>
          <p:cNvSpPr txBox="1"/>
          <p:nvPr/>
        </p:nvSpPr>
        <p:spPr>
          <a:xfrm>
            <a:off x="9226296" y="3749040"/>
            <a:ext cx="2194560" cy="777240"/>
          </a:xfrm>
          <a:prstGeom prst="rect">
            <a:avLst/>
          </a:prstGeom>
          <a:noFill/>
          <a:ln/>
        </p:spPr>
        <p:txBody>
          <a:bodyPr wrap="square" lIns="0" tIns="0" rIns="0" bIns="0" rtlCol="0" anchor="t"/>
          <a:lstStyle/>
          <a:p>
            <a:pPr indent="0" marL="0">
              <a:buNone/>
            </a:pPr>
            <a:r>
              <a:rPr lang="en-US" sz="1350" dirty="0">
                <a:solidFill>
                  <a:schemeClr val="tx1"/>
                </a:solidFill>
              </a:rPr>
              <a:t>Vague, duplicated requests with no location.</a:t>
            </a:r>
            <a:endParaRPr lang="en-US" sz="1350" dirty="0"/>
          </a:p>
        </p:txBody>
      </p:sp>
      <p:sp>
        <p:nvSpPr>
          <p:cNvPr id="34" name="Text 28"/>
          <p:cNvSpPr txBox="1"/>
          <p:nvPr/>
        </p:nvSpPr>
        <p:spPr>
          <a:xfrm>
            <a:off x="9226296" y="4572000"/>
            <a:ext cx="2194560" cy="219456"/>
          </a:xfrm>
          <a:prstGeom prst="rect">
            <a:avLst/>
          </a:prstGeom>
          <a:noFill/>
          <a:ln/>
        </p:spPr>
        <p:txBody>
          <a:bodyPr wrap="square" lIns="0" tIns="0" rIns="0" bIns="0" rtlCol="0" anchor="t"/>
          <a:lstStyle/>
          <a:p>
            <a:pPr indent="0" marL="0">
              <a:buNone/>
            </a:pPr>
            <a:r>
              <a:rPr lang="en-US" sz="1000" b="1" spc="150" kern="0" dirty="0">
                <a:solidFill>
                  <a:schemeClr val="accent2"/>
                </a:solidFill>
              </a:rPr>
              <a:t>WITH METROSENSE</a:t>
            </a:r>
            <a:endParaRPr lang="en-US" sz="1000" dirty="0"/>
          </a:p>
        </p:txBody>
      </p:sp>
      <p:sp>
        <p:nvSpPr>
          <p:cNvPr id="35" name="Text 29"/>
          <p:cNvSpPr txBox="1"/>
          <p:nvPr/>
        </p:nvSpPr>
        <p:spPr>
          <a:xfrm>
            <a:off x="9226296" y="4800600"/>
            <a:ext cx="2194560" cy="1143000"/>
          </a:xfrm>
          <a:prstGeom prst="rect">
            <a:avLst/>
          </a:prstGeom>
          <a:noFill/>
          <a:ln/>
        </p:spPr>
        <p:txBody>
          <a:bodyPr wrap="square" lIns="0" tIns="0" rIns="0" bIns="0" rtlCol="0" anchor="t"/>
          <a:lstStyle/>
          <a:p>
            <a:pPr indent="0" marL="0">
              <a:buNone/>
            </a:pPr>
            <a:r>
              <a:rPr lang="en-US" sz="1350" dirty="0">
                <a:solidFill>
                  <a:schemeClr val="tx1"/>
                </a:solidFill>
              </a:rPr>
              <a:t>One clear work order with location, model and photo.</a:t>
            </a:r>
            <a:endParaRPr lang="en-US" sz="135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1"/>
                </a:solidFill>
              </a:rPr>
              <a:t>3  ·  OUR SOLUTION AND VISUAL CONCEPT</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tx2"/>
                </a:solidFill>
              </a:rPr>
              <a:t>One live map that predicts, takes reports and routes every fix</a:t>
            </a:r>
            <a:endParaRPr lang="en-US" sz="3200" dirty="0"/>
          </a:p>
        </p:txBody>
      </p:sp>
      <p:pic>
        <p:nvPicPr>
          <p:cNvPr id="4" name="MetroSense dashboard" descr="MetroSense dashboard">    </p:cNvPr>
          <p:cNvPicPr>
            <a:picLocks noChangeAspect="1"/>
          </p:cNvPicPr>
          <p:nvPr/>
        </p:nvPicPr>
        <p:blipFill>
          <a:blip r:embed="rId1"/>
          <a:stretch>
            <a:fillRect/>
          </a:stretch>
        </p:blipFill>
        <p:spPr>
          <a:xfrm>
            <a:off x="292608" y="1527048"/>
            <a:ext cx="7827264" cy="4626864"/>
          </a:xfrm>
          <a:prstGeom prst="rect">
            <a:avLst/>
          </a:prstGeom>
        </p:spPr>
      </p:pic>
      <p:sp>
        <p:nvSpPr>
          <p:cNvPr id="5" name="Text 2"/>
          <p:cNvSpPr txBox="1"/>
          <p:nvPr/>
        </p:nvSpPr>
        <p:spPr>
          <a:xfrm>
            <a:off x="548640" y="6007608"/>
            <a:ext cx="7315200" cy="274320"/>
          </a:xfrm>
          <a:prstGeom prst="rect">
            <a:avLst/>
          </a:prstGeom>
          <a:noFill/>
          <a:ln/>
        </p:spPr>
        <p:txBody>
          <a:bodyPr wrap="square" lIns="0" tIns="0" rIns="0" bIns="0" rtlCol="0" anchor="t"/>
          <a:lstStyle/>
          <a:p>
            <a:pPr indent="0" marL="0">
              <a:buNone/>
            </a:pPr>
            <a:r>
              <a:rPr lang="en-US" sz="1200" dirty="0">
                <a:solidFill>
                  <a:srgbClr val="5B6377"/>
                </a:solidFill>
              </a:rPr>
              <a:t>Working prototype: staff dashboard with the 3D map, key figures and weather (simulated data).</a:t>
            </a:r>
            <a:endParaRPr lang="en-US" sz="1200" dirty="0"/>
          </a:p>
        </p:txBody>
      </p:sp>
      <p:pic>
        <p:nvPicPr>
          <p:cNvPr id="6" name="Image 1" descr="C:\Users\faiqs\AppData\Local\Temp\claude\C--Users-faiqs-Desktop-SIME-DARBY\1db49c24-6d29-4c60-bea1-a1554db1f55f\scratchpad\deck\img\ic-radar.png">    </p:cNvPr>
          <p:cNvPicPr>
            <a:picLocks noChangeAspect="1"/>
          </p:cNvPicPr>
          <p:nvPr/>
        </p:nvPicPr>
        <p:blipFill>
          <a:blip r:embed="rId2"/>
          <a:stretch>
            <a:fillRect/>
          </a:stretch>
        </p:blipFill>
        <p:spPr>
          <a:xfrm>
            <a:off x="8275320" y="1783080"/>
            <a:ext cx="530352" cy="530352"/>
          </a:xfrm>
          <a:prstGeom prst="rect">
            <a:avLst/>
          </a:prstGeom>
        </p:spPr>
      </p:pic>
      <p:sp>
        <p:nvSpPr>
          <p:cNvPr id="7" name="Text 3"/>
          <p:cNvSpPr txBox="1"/>
          <p:nvPr/>
        </p:nvSpPr>
        <p:spPr>
          <a:xfrm>
            <a:off x="8961120" y="1764792"/>
            <a:ext cx="2651760" cy="347472"/>
          </a:xfrm>
          <a:prstGeom prst="rect">
            <a:avLst/>
          </a:prstGeom>
          <a:noFill/>
          <a:ln/>
        </p:spPr>
        <p:txBody>
          <a:bodyPr wrap="square" lIns="0" tIns="0" rIns="0" bIns="0" rtlCol="0" anchor="t"/>
          <a:lstStyle/>
          <a:p>
            <a:pPr indent="0" marL="0">
              <a:buNone/>
            </a:pPr>
            <a:r>
              <a:rPr lang="en-US" sz="1800" b="1" dirty="0">
                <a:solidFill>
                  <a:schemeClr val="tx2"/>
                </a:solidFill>
              </a:rPr>
              <a:t>Predict</a:t>
            </a:r>
            <a:endParaRPr lang="en-US" sz="1800" dirty="0"/>
          </a:p>
        </p:txBody>
      </p:sp>
      <p:sp>
        <p:nvSpPr>
          <p:cNvPr id="8" name="Text 4"/>
          <p:cNvSpPr txBox="1"/>
          <p:nvPr/>
        </p:nvSpPr>
        <p:spPr>
          <a:xfrm>
            <a:off x="8961120" y="2121408"/>
            <a:ext cx="2651760" cy="685800"/>
          </a:xfrm>
          <a:prstGeom prst="rect">
            <a:avLst/>
          </a:prstGeom>
          <a:noFill/>
          <a:ln/>
        </p:spPr>
        <p:txBody>
          <a:bodyPr wrap="square" lIns="0" tIns="0" rIns="0" bIns="0" rtlCol="0" anchor="t"/>
          <a:lstStyle/>
          <a:p>
            <a:pPr indent="0" marL="0">
              <a:buNone/>
            </a:pPr>
            <a:r>
              <a:rPr lang="en-US" sz="1400" dirty="0">
                <a:solidFill>
                  <a:schemeClr val="tx1"/>
                </a:solidFill>
              </a:rPr>
              <a:t>Every asset's risk, forecast 7 days to 5 years ahead.</a:t>
            </a:r>
            <a:endParaRPr lang="en-US" sz="1400" dirty="0"/>
          </a:p>
        </p:txBody>
      </p:sp>
      <p:sp>
        <p:nvSpPr>
          <p:cNvPr id="9" name="Shape 5"/>
          <p:cNvSpPr/>
          <p:nvPr/>
        </p:nvSpPr>
        <p:spPr>
          <a:xfrm rot="5400000">
            <a:off x="8439912" y="2478024"/>
            <a:ext cx="237744" cy="365760"/>
          </a:xfrm>
          <a:prstGeom prst="chevron">
            <a:avLst/>
          </a:prstGeom>
          <a:solidFill>
            <a:schemeClr val="accent1"/>
          </a:solidFill>
          <a:ln w="12700">
            <a:solidFill>
              <a:schemeClr val="accent1"/>
            </a:solidFill>
            <a:prstDash val="solid"/>
          </a:ln>
        </p:spPr>
      </p:sp>
      <p:pic>
        <p:nvPicPr>
          <p:cNvPr id="10" name="Image 2" descr="C:\Users\faiqs\AppData\Local\Temp\claude\C--Users-faiqs-Desktop-SIME-DARBY\1db49c24-6d29-4c60-bea1-a1554db1f55f\scratchpad\deck\img\ic-message.png">    </p:cNvPr>
          <p:cNvPicPr>
            <a:picLocks noChangeAspect="1"/>
          </p:cNvPicPr>
          <p:nvPr/>
        </p:nvPicPr>
        <p:blipFill>
          <a:blip r:embed="rId3"/>
          <a:stretch>
            <a:fillRect/>
          </a:stretch>
        </p:blipFill>
        <p:spPr>
          <a:xfrm>
            <a:off x="8275320" y="2971800"/>
            <a:ext cx="530352" cy="530352"/>
          </a:xfrm>
          <a:prstGeom prst="rect">
            <a:avLst/>
          </a:prstGeom>
        </p:spPr>
      </p:pic>
      <p:sp>
        <p:nvSpPr>
          <p:cNvPr id="11" name="Text 6"/>
          <p:cNvSpPr txBox="1"/>
          <p:nvPr/>
        </p:nvSpPr>
        <p:spPr>
          <a:xfrm>
            <a:off x="8961120" y="2953512"/>
            <a:ext cx="2651760" cy="347472"/>
          </a:xfrm>
          <a:prstGeom prst="rect">
            <a:avLst/>
          </a:prstGeom>
          <a:noFill/>
          <a:ln/>
        </p:spPr>
        <p:txBody>
          <a:bodyPr wrap="square" lIns="0" tIns="0" rIns="0" bIns="0" rtlCol="0" anchor="t"/>
          <a:lstStyle/>
          <a:p>
            <a:pPr indent="0" marL="0">
              <a:buNone/>
            </a:pPr>
            <a:r>
              <a:rPr lang="en-US" sz="1800" b="1" dirty="0">
                <a:solidFill>
                  <a:schemeClr val="tx2"/>
                </a:solidFill>
              </a:rPr>
              <a:t>Report</a:t>
            </a:r>
            <a:endParaRPr lang="en-US" sz="1800" dirty="0"/>
          </a:p>
        </p:txBody>
      </p:sp>
      <p:sp>
        <p:nvSpPr>
          <p:cNvPr id="12" name="Text 7"/>
          <p:cNvSpPr txBox="1"/>
          <p:nvPr/>
        </p:nvSpPr>
        <p:spPr>
          <a:xfrm>
            <a:off x="8961120" y="3310128"/>
            <a:ext cx="2651760" cy="685800"/>
          </a:xfrm>
          <a:prstGeom prst="rect">
            <a:avLst/>
          </a:prstGeom>
          <a:noFill/>
          <a:ln/>
        </p:spPr>
        <p:txBody>
          <a:bodyPr wrap="square" lIns="0" tIns="0" rIns="0" bIns="0" rtlCol="0" anchor="t"/>
          <a:lstStyle/>
          <a:p>
            <a:pPr indent="0" marL="0">
              <a:buNone/>
            </a:pPr>
            <a:r>
              <a:rPr lang="en-US" sz="1400" dirty="0">
                <a:solidFill>
                  <a:schemeClr val="tx1"/>
                </a:solidFill>
              </a:rPr>
              <a:t>All channels in one queue, merged per asset.</a:t>
            </a:r>
            <a:endParaRPr lang="en-US" sz="1400" dirty="0"/>
          </a:p>
        </p:txBody>
      </p:sp>
      <p:sp>
        <p:nvSpPr>
          <p:cNvPr id="13" name="Shape 8"/>
          <p:cNvSpPr/>
          <p:nvPr/>
        </p:nvSpPr>
        <p:spPr>
          <a:xfrm rot="5400000">
            <a:off x="8439912" y="3666744"/>
            <a:ext cx="237744" cy="365760"/>
          </a:xfrm>
          <a:prstGeom prst="chevron">
            <a:avLst/>
          </a:prstGeom>
          <a:solidFill>
            <a:schemeClr val="accent1"/>
          </a:solidFill>
          <a:ln w="12700">
            <a:solidFill>
              <a:schemeClr val="accent1"/>
            </a:solidFill>
            <a:prstDash val="solid"/>
          </a:ln>
        </p:spPr>
      </p:sp>
      <p:pic>
        <p:nvPicPr>
          <p:cNvPr id="14" name="Image 3" descr="C:\Users\faiqs\AppData\Local\Temp\claude\C--Users-faiqs-Desktop-SIME-DARBY\1db49c24-6d29-4c60-bea1-a1554db1f55f\scratchpad\deck\img\ic-wrench.png">    </p:cNvPr>
          <p:cNvPicPr>
            <a:picLocks noChangeAspect="1"/>
          </p:cNvPicPr>
          <p:nvPr/>
        </p:nvPicPr>
        <p:blipFill>
          <a:blip r:embed="rId4"/>
          <a:stretch>
            <a:fillRect/>
          </a:stretch>
        </p:blipFill>
        <p:spPr>
          <a:xfrm>
            <a:off x="8275320" y="4160520"/>
            <a:ext cx="530352" cy="530352"/>
          </a:xfrm>
          <a:prstGeom prst="rect">
            <a:avLst/>
          </a:prstGeom>
        </p:spPr>
      </p:pic>
      <p:sp>
        <p:nvSpPr>
          <p:cNvPr id="15" name="Text 9"/>
          <p:cNvSpPr txBox="1"/>
          <p:nvPr/>
        </p:nvSpPr>
        <p:spPr>
          <a:xfrm>
            <a:off x="8961120" y="4142232"/>
            <a:ext cx="2651760" cy="347472"/>
          </a:xfrm>
          <a:prstGeom prst="rect">
            <a:avLst/>
          </a:prstGeom>
          <a:noFill/>
          <a:ln/>
        </p:spPr>
        <p:txBody>
          <a:bodyPr wrap="square" lIns="0" tIns="0" rIns="0" bIns="0" rtlCol="0" anchor="t"/>
          <a:lstStyle/>
          <a:p>
            <a:pPr indent="0" marL="0">
              <a:buNone/>
            </a:pPr>
            <a:r>
              <a:rPr lang="en-US" sz="1800" b="1" dirty="0">
                <a:solidFill>
                  <a:schemeClr val="tx2"/>
                </a:solidFill>
              </a:rPr>
              <a:t>Fix</a:t>
            </a:r>
            <a:endParaRPr lang="en-US" sz="1800" dirty="0"/>
          </a:p>
        </p:txBody>
      </p:sp>
      <p:sp>
        <p:nvSpPr>
          <p:cNvPr id="16" name="Text 10"/>
          <p:cNvSpPr txBox="1"/>
          <p:nvPr/>
        </p:nvSpPr>
        <p:spPr>
          <a:xfrm>
            <a:off x="8961120" y="4498848"/>
            <a:ext cx="2651760" cy="685800"/>
          </a:xfrm>
          <a:prstGeom prst="rect">
            <a:avLst/>
          </a:prstGeom>
          <a:noFill/>
          <a:ln/>
        </p:spPr>
        <p:txBody>
          <a:bodyPr wrap="square" lIns="0" tIns="0" rIns="0" bIns="0" rtlCol="0" anchor="t"/>
          <a:lstStyle/>
          <a:p>
            <a:pPr indent="0" marL="0">
              <a:buNone/>
            </a:pPr>
            <a:r>
              <a:rPr lang="en-US" sz="1400" dirty="0">
                <a:solidFill>
                  <a:schemeClr val="tx1"/>
                </a:solidFill>
              </a:rPr>
              <a:t>Routed to the owner; reporters updated.</a:t>
            </a:r>
            <a:endParaRPr lang="en-US" sz="1400" dirty="0"/>
          </a:p>
        </p:txBody>
      </p:sp>
      <p:sp>
        <p:nvSpPr>
          <p:cNvPr id="17" name="Feedback loop"/>
          <p:cNvSpPr/>
          <p:nvPr/>
        </p:nvSpPr>
        <p:spPr>
          <a:xfrm>
            <a:off x="8275320" y="5349240"/>
            <a:ext cx="3337560" cy="685800"/>
          </a:xfrm>
          <a:prstGeom prst="roundRect">
            <a:avLst>
              <a:gd name="adj" fmla="val 16000"/>
            </a:avLst>
          </a:prstGeom>
          <a:solidFill>
            <a:schemeClr val="tx2"/>
          </a:solidFill>
          <a:ln w="12700">
            <a:solidFill>
              <a:schemeClr val="tx2"/>
            </a:solidFill>
            <a:prstDash val="solid"/>
          </a:ln>
        </p:spPr>
      </p:sp>
      <p:sp>
        <p:nvSpPr>
          <p:cNvPr id="18" name="Text 12"/>
          <p:cNvSpPr txBox="1"/>
          <p:nvPr/>
        </p:nvSpPr>
        <p:spPr>
          <a:xfrm>
            <a:off x="8458200" y="5349240"/>
            <a:ext cx="3017520" cy="685800"/>
          </a:xfrm>
          <a:prstGeom prst="rect">
            <a:avLst/>
          </a:prstGeom>
          <a:noFill/>
          <a:ln/>
        </p:spPr>
        <p:txBody>
          <a:bodyPr wrap="square" lIns="0" tIns="0" rIns="0" bIns="0" rtlCol="0" anchor="ctr"/>
          <a:lstStyle/>
          <a:p>
            <a:pPr indent="0" marL="0">
              <a:buNone/>
            </a:pPr>
            <a:r>
              <a:rPr lang="en-US" sz="1350" b="1" dirty="0">
                <a:solidFill>
                  <a:schemeClr val="accent3"/>
                </a:solidFill>
              </a:rPr>
              <a:t>Every fix feeds back </a:t>
            </a:r>
            <a:pPr indent="0" marL="0">
              <a:buNone/>
            </a:pPr>
            <a:r>
              <a:rPr lang="en-US" sz="1350" dirty="0">
                <a:solidFill>
                  <a:schemeClr val="bg1"/>
                </a:solidFill>
              </a:rPr>
              <a:t>into the next forecast.</a:t>
            </a:r>
            <a:endParaRPr lang="en-US" sz="135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1"/>
                </a:solidFill>
              </a:rPr>
              <a:t>4  ·  INNOVATION</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tx2"/>
                </a:solidFill>
              </a:rPr>
              <a:t>What makes it different from today's tools</a:t>
            </a:r>
            <a:endParaRPr lang="en-US" sz="3200" dirty="0"/>
          </a:p>
        </p:txBody>
      </p:sp>
      <p:sp>
        <p:nvSpPr>
          <p:cNvPr id="4" name="MetroSense column"/>
          <p:cNvSpPr/>
          <p:nvPr/>
        </p:nvSpPr>
        <p:spPr>
          <a:xfrm>
            <a:off x="9646920" y="1783080"/>
            <a:ext cx="1965960" cy="3840480"/>
          </a:xfrm>
          <a:prstGeom prst="roundRect">
            <a:avLst>
              <a:gd name="adj" fmla="val 5581"/>
            </a:avLst>
          </a:prstGeom>
          <a:solidFill>
            <a:schemeClr val="bg2"/>
          </a:solidFill>
          <a:ln w="12700">
            <a:solidFill>
              <a:schemeClr val="bg2"/>
            </a:solidFill>
            <a:prstDash val="solid"/>
          </a:ln>
        </p:spPr>
      </p:sp>
      <p:sp>
        <p:nvSpPr>
          <p:cNvPr id="5" name="Text 3"/>
          <p:cNvSpPr txBox="1"/>
          <p:nvPr/>
        </p:nvSpPr>
        <p:spPr>
          <a:xfrm>
            <a:off x="5715000" y="1783080"/>
            <a:ext cx="1965960" cy="731520"/>
          </a:xfrm>
          <a:prstGeom prst="rect">
            <a:avLst/>
          </a:prstGeom>
          <a:noFill/>
          <a:ln/>
        </p:spPr>
        <p:txBody>
          <a:bodyPr wrap="square" lIns="0" tIns="0" rIns="0" bIns="0" rtlCol="0" anchor="ctr"/>
          <a:lstStyle/>
          <a:p>
            <a:pPr algn="ctr" indent="0" marL="0">
              <a:buNone/>
            </a:pPr>
            <a:r>
              <a:rPr lang="en-US" sz="1400" b="1" dirty="0">
                <a:solidFill>
                  <a:schemeClr val="tx2"/>
                </a:solidFill>
              </a:rPr>
              <a:t>Today</a:t>
            </a:r>
            <a:endParaRPr lang="en-US" sz="1400" dirty="0"/>
          </a:p>
          <a:p>
            <a:pPr algn="ctr" indent="0" marL="0">
              <a:buNone/>
            </a:pPr>
            <a:r>
              <a:rPr lang="en-US" sz="1100" dirty="0">
                <a:solidFill>
                  <a:srgbClr val="5B6377"/>
                </a:solidFill>
              </a:rPr>
              <a:t>WhatsApp, hotline, email</a:t>
            </a:r>
            <a:endParaRPr lang="en-US" sz="1400" dirty="0"/>
          </a:p>
        </p:txBody>
      </p:sp>
      <p:sp>
        <p:nvSpPr>
          <p:cNvPr id="6" name="Text 4"/>
          <p:cNvSpPr txBox="1"/>
          <p:nvPr/>
        </p:nvSpPr>
        <p:spPr>
          <a:xfrm>
            <a:off x="7680960" y="1783080"/>
            <a:ext cx="1965960" cy="731520"/>
          </a:xfrm>
          <a:prstGeom prst="rect">
            <a:avLst/>
          </a:prstGeom>
          <a:noFill/>
          <a:ln/>
        </p:spPr>
        <p:txBody>
          <a:bodyPr wrap="square" lIns="0" tIns="0" rIns="0" bIns="0" rtlCol="0" anchor="ctr"/>
          <a:lstStyle/>
          <a:p>
            <a:pPr algn="ctr" indent="0" marL="0">
              <a:buNone/>
            </a:pPr>
            <a:r>
              <a:rPr lang="en-US" sz="1400" b="1" dirty="0">
                <a:solidFill>
                  <a:schemeClr val="tx2"/>
                </a:solidFill>
              </a:rPr>
              <a:t>Typical maintenance software</a:t>
            </a:r>
            <a:endParaRPr lang="en-US" sz="1400" dirty="0"/>
          </a:p>
          <a:p>
            <a:pPr algn="ctr" indent="0" marL="0">
              <a:buNone/>
            </a:pPr>
            <a:r>
              <a:rPr lang="en-US" sz="1100" dirty="0">
                <a:solidFill>
                  <a:srgbClr val="5B6377"/>
                </a:solidFill>
              </a:rPr>
              <a:t>work-order systems</a:t>
            </a:r>
            <a:endParaRPr lang="en-US" sz="1400" dirty="0"/>
          </a:p>
        </p:txBody>
      </p:sp>
      <p:sp>
        <p:nvSpPr>
          <p:cNvPr id="7" name="MetroSense header"/>
          <p:cNvSpPr/>
          <p:nvPr/>
        </p:nvSpPr>
        <p:spPr>
          <a:xfrm>
            <a:off x="9646920" y="1783080"/>
            <a:ext cx="1965960" cy="731520"/>
          </a:xfrm>
          <a:prstGeom prst="roundRect">
            <a:avLst>
              <a:gd name="adj" fmla="val 15000"/>
            </a:avLst>
          </a:prstGeom>
          <a:solidFill>
            <a:schemeClr val="tx2"/>
          </a:solidFill>
          <a:ln w="12700">
            <a:solidFill>
              <a:schemeClr val="tx2"/>
            </a:solidFill>
            <a:prstDash val="solid"/>
          </a:ln>
        </p:spPr>
      </p:sp>
      <p:pic>
        <p:nvPicPr>
          <p:cNvPr id="8" name="Image 0" descr="C:\Users\faiqs\AppData\Local\Temp\claude\C--Users-faiqs-Desktop-SIME-DARBY\1db49c24-6d29-4c60-bea1-a1554db1f55f\scratchpad\deck\img\brand-mark.png">    </p:cNvPr>
          <p:cNvPicPr>
            <a:picLocks noChangeAspect="1"/>
          </p:cNvPicPr>
          <p:nvPr/>
        </p:nvPicPr>
        <p:blipFill>
          <a:blip r:embed="rId1"/>
          <a:stretch>
            <a:fillRect/>
          </a:stretch>
        </p:blipFill>
        <p:spPr>
          <a:xfrm>
            <a:off x="9848088" y="1975104"/>
            <a:ext cx="347472" cy="347472"/>
          </a:xfrm>
          <a:prstGeom prst="rect">
            <a:avLst/>
          </a:prstGeom>
        </p:spPr>
      </p:pic>
      <p:sp>
        <p:nvSpPr>
          <p:cNvPr id="9" name="Text 6"/>
          <p:cNvSpPr txBox="1"/>
          <p:nvPr/>
        </p:nvSpPr>
        <p:spPr>
          <a:xfrm>
            <a:off x="10268712" y="1783080"/>
            <a:ext cx="1280160" cy="731520"/>
          </a:xfrm>
          <a:prstGeom prst="rect">
            <a:avLst/>
          </a:prstGeom>
          <a:noFill/>
          <a:ln/>
        </p:spPr>
        <p:txBody>
          <a:bodyPr wrap="square" lIns="0" tIns="0" rIns="0" bIns="0" rtlCol="0" anchor="ctr"/>
          <a:lstStyle/>
          <a:p>
            <a:pPr indent="0" marL="0">
              <a:buNone/>
            </a:pPr>
            <a:r>
              <a:rPr lang="en-US" sz="1600" b="1" dirty="0">
                <a:solidFill>
                  <a:schemeClr val="bg1"/>
                </a:solidFill>
              </a:rPr>
              <a:t>MetroSense</a:t>
            </a:r>
            <a:endParaRPr lang="en-US" sz="1600" dirty="0"/>
          </a:p>
        </p:txBody>
      </p:sp>
      <p:sp>
        <p:nvSpPr>
          <p:cNvPr id="10" name="Shape 7"/>
          <p:cNvSpPr/>
          <p:nvPr/>
        </p:nvSpPr>
        <p:spPr>
          <a:xfrm>
            <a:off x="548640" y="2514600"/>
            <a:ext cx="11064240" cy="0"/>
          </a:xfrm>
          <a:prstGeom prst="line">
            <a:avLst/>
          </a:prstGeom>
          <a:noFill/>
          <a:ln w="12700">
            <a:solidFill>
              <a:srgbClr val="DDE1E9"/>
            </a:solidFill>
            <a:prstDash val="solid"/>
          </a:ln>
        </p:spPr>
      </p:sp>
      <p:sp>
        <p:nvSpPr>
          <p:cNvPr id="11" name="Text 8"/>
          <p:cNvSpPr txBox="1"/>
          <p:nvPr/>
        </p:nvSpPr>
        <p:spPr>
          <a:xfrm>
            <a:off x="548640" y="2514600"/>
            <a:ext cx="5029200" cy="603504"/>
          </a:xfrm>
          <a:prstGeom prst="rect">
            <a:avLst/>
          </a:prstGeom>
          <a:noFill/>
          <a:ln/>
        </p:spPr>
        <p:txBody>
          <a:bodyPr wrap="square" lIns="0" tIns="0" rIns="0" bIns="0" rtlCol="0" anchor="ctr"/>
          <a:lstStyle/>
          <a:p>
            <a:pPr indent="0" marL="0">
              <a:buNone/>
            </a:pPr>
            <a:r>
              <a:rPr lang="en-US" sz="1500" dirty="0">
                <a:solidFill>
                  <a:schemeClr val="tx1"/>
                </a:solidFill>
              </a:rPr>
              <a:t>Residents know who is fixing it, and when</a:t>
            </a:r>
            <a:endParaRPr lang="en-US" sz="1500" dirty="0"/>
          </a:p>
        </p:txBody>
      </p:sp>
      <p:pic>
        <p:nvPicPr>
          <p:cNvPr id="12" name="Image 1" descr="no">    </p:cNvPr>
          <p:cNvPicPr>
            <a:picLocks noChangeAspect="1"/>
          </p:cNvPicPr>
          <p:nvPr/>
        </p:nvPicPr>
        <p:blipFill>
          <a:blip r:embed="rId2"/>
          <a:stretch>
            <a:fillRect/>
          </a:stretch>
        </p:blipFill>
        <p:spPr>
          <a:xfrm>
            <a:off x="6542532" y="2660904"/>
            <a:ext cx="310896" cy="310896"/>
          </a:xfrm>
          <a:prstGeom prst="rect">
            <a:avLst/>
          </a:prstGeom>
        </p:spPr>
      </p:pic>
      <p:pic>
        <p:nvPicPr>
          <p:cNvPr id="13" name="Image 2" descr="no">    </p:cNvPr>
          <p:cNvPicPr>
            <a:picLocks noChangeAspect="1"/>
          </p:cNvPicPr>
          <p:nvPr/>
        </p:nvPicPr>
        <p:blipFill>
          <a:blip r:embed="rId3"/>
          <a:stretch>
            <a:fillRect/>
          </a:stretch>
        </p:blipFill>
        <p:spPr>
          <a:xfrm>
            <a:off x="8508492" y="2660904"/>
            <a:ext cx="310896" cy="310896"/>
          </a:xfrm>
          <a:prstGeom prst="rect">
            <a:avLst/>
          </a:prstGeom>
        </p:spPr>
      </p:pic>
      <p:pic>
        <p:nvPicPr>
          <p:cNvPr id="14" name="Image 3" descr="yes">    </p:cNvPr>
          <p:cNvPicPr>
            <a:picLocks noChangeAspect="1"/>
          </p:cNvPicPr>
          <p:nvPr/>
        </p:nvPicPr>
        <p:blipFill>
          <a:blip r:embed="rId4"/>
          <a:stretch>
            <a:fillRect/>
          </a:stretch>
        </p:blipFill>
        <p:spPr>
          <a:xfrm>
            <a:off x="10474452" y="2660904"/>
            <a:ext cx="310896" cy="310896"/>
          </a:xfrm>
          <a:prstGeom prst="rect">
            <a:avLst/>
          </a:prstGeom>
        </p:spPr>
      </p:pic>
      <p:sp>
        <p:nvSpPr>
          <p:cNvPr id="15" name="Shape 9"/>
          <p:cNvSpPr/>
          <p:nvPr/>
        </p:nvSpPr>
        <p:spPr>
          <a:xfrm>
            <a:off x="548640" y="3118104"/>
            <a:ext cx="11064240" cy="0"/>
          </a:xfrm>
          <a:prstGeom prst="line">
            <a:avLst/>
          </a:prstGeom>
          <a:noFill/>
          <a:ln w="12700">
            <a:solidFill>
              <a:srgbClr val="DDE1E9"/>
            </a:solidFill>
            <a:prstDash val="solid"/>
          </a:ln>
        </p:spPr>
      </p:sp>
      <p:sp>
        <p:nvSpPr>
          <p:cNvPr id="16" name="Text 10"/>
          <p:cNvSpPr txBox="1"/>
          <p:nvPr/>
        </p:nvSpPr>
        <p:spPr>
          <a:xfrm>
            <a:off x="548640" y="3118104"/>
            <a:ext cx="5029200" cy="603504"/>
          </a:xfrm>
          <a:prstGeom prst="rect">
            <a:avLst/>
          </a:prstGeom>
          <a:noFill/>
          <a:ln/>
        </p:spPr>
        <p:txBody>
          <a:bodyPr wrap="square" lIns="0" tIns="0" rIns="0" bIns="0" rtlCol="0" anchor="ctr"/>
          <a:lstStyle/>
          <a:p>
            <a:pPr indent="0" marL="0">
              <a:buNone/>
            </a:pPr>
            <a:r>
              <a:rPr lang="en-US" sz="1500" dirty="0">
                <a:solidFill>
                  <a:schemeClr val="tx1"/>
                </a:solidFill>
              </a:rPr>
              <a:t>Every channel in one queue, duplicates merged</a:t>
            </a:r>
            <a:endParaRPr lang="en-US" sz="1500" dirty="0"/>
          </a:p>
        </p:txBody>
      </p:sp>
      <p:pic>
        <p:nvPicPr>
          <p:cNvPr id="17" name="Image 4" descr="no">    </p:cNvPr>
          <p:cNvPicPr>
            <a:picLocks noChangeAspect="1"/>
          </p:cNvPicPr>
          <p:nvPr/>
        </p:nvPicPr>
        <p:blipFill>
          <a:blip r:embed="rId5"/>
          <a:stretch>
            <a:fillRect/>
          </a:stretch>
        </p:blipFill>
        <p:spPr>
          <a:xfrm>
            <a:off x="6542532" y="3264408"/>
            <a:ext cx="310896" cy="310896"/>
          </a:xfrm>
          <a:prstGeom prst="rect">
            <a:avLst/>
          </a:prstGeom>
        </p:spPr>
      </p:pic>
      <p:pic>
        <p:nvPicPr>
          <p:cNvPr id="18" name="Image 5" descr="part">    </p:cNvPr>
          <p:cNvPicPr>
            <a:picLocks noChangeAspect="1"/>
          </p:cNvPicPr>
          <p:nvPr/>
        </p:nvPicPr>
        <p:blipFill>
          <a:blip r:embed="rId6"/>
          <a:stretch>
            <a:fillRect/>
          </a:stretch>
        </p:blipFill>
        <p:spPr>
          <a:xfrm>
            <a:off x="8508492" y="3264408"/>
            <a:ext cx="310896" cy="310896"/>
          </a:xfrm>
          <a:prstGeom prst="rect">
            <a:avLst/>
          </a:prstGeom>
        </p:spPr>
      </p:pic>
      <p:pic>
        <p:nvPicPr>
          <p:cNvPr id="19" name="Image 6" descr="yes">    </p:cNvPr>
          <p:cNvPicPr>
            <a:picLocks noChangeAspect="1"/>
          </p:cNvPicPr>
          <p:nvPr/>
        </p:nvPicPr>
        <p:blipFill>
          <a:blip r:embed="rId7"/>
          <a:stretch>
            <a:fillRect/>
          </a:stretch>
        </p:blipFill>
        <p:spPr>
          <a:xfrm>
            <a:off x="10474452" y="3264408"/>
            <a:ext cx="310896" cy="310896"/>
          </a:xfrm>
          <a:prstGeom prst="rect">
            <a:avLst/>
          </a:prstGeom>
        </p:spPr>
      </p:pic>
      <p:sp>
        <p:nvSpPr>
          <p:cNvPr id="20" name="Shape 11"/>
          <p:cNvSpPr/>
          <p:nvPr/>
        </p:nvSpPr>
        <p:spPr>
          <a:xfrm>
            <a:off x="548640" y="3721608"/>
            <a:ext cx="11064240" cy="0"/>
          </a:xfrm>
          <a:prstGeom prst="line">
            <a:avLst/>
          </a:prstGeom>
          <a:noFill/>
          <a:ln w="12700">
            <a:solidFill>
              <a:srgbClr val="DDE1E9"/>
            </a:solidFill>
            <a:prstDash val="solid"/>
          </a:ln>
        </p:spPr>
      </p:sp>
      <p:sp>
        <p:nvSpPr>
          <p:cNvPr id="21" name="Text 12"/>
          <p:cNvSpPr txBox="1"/>
          <p:nvPr/>
        </p:nvSpPr>
        <p:spPr>
          <a:xfrm>
            <a:off x="548640" y="3721608"/>
            <a:ext cx="5029200" cy="603504"/>
          </a:xfrm>
          <a:prstGeom prst="rect">
            <a:avLst/>
          </a:prstGeom>
          <a:noFill/>
          <a:ln/>
        </p:spPr>
        <p:txBody>
          <a:bodyPr wrap="square" lIns="0" tIns="0" rIns="0" bIns="0" rtlCol="0" anchor="ctr"/>
          <a:lstStyle/>
          <a:p>
            <a:pPr indent="0" marL="0">
              <a:buNone/>
            </a:pPr>
            <a:r>
              <a:rPr lang="en-US" sz="1500" dirty="0">
                <a:solidFill>
                  <a:schemeClr val="tx1"/>
                </a:solidFill>
              </a:rPr>
              <a:t>Routed across SDP, council, contractors, vendors</a:t>
            </a:r>
            <a:endParaRPr lang="en-US" sz="1500" dirty="0"/>
          </a:p>
        </p:txBody>
      </p:sp>
      <p:pic>
        <p:nvPicPr>
          <p:cNvPr id="22" name="Image 7" descr="no">    </p:cNvPr>
          <p:cNvPicPr>
            <a:picLocks noChangeAspect="1"/>
          </p:cNvPicPr>
          <p:nvPr/>
        </p:nvPicPr>
        <p:blipFill>
          <a:blip r:embed="rId8"/>
          <a:stretch>
            <a:fillRect/>
          </a:stretch>
        </p:blipFill>
        <p:spPr>
          <a:xfrm>
            <a:off x="6542532" y="3867912"/>
            <a:ext cx="310896" cy="310896"/>
          </a:xfrm>
          <a:prstGeom prst="rect">
            <a:avLst/>
          </a:prstGeom>
        </p:spPr>
      </p:pic>
      <p:pic>
        <p:nvPicPr>
          <p:cNvPr id="23" name="Image 8" descr="part">    </p:cNvPr>
          <p:cNvPicPr>
            <a:picLocks noChangeAspect="1"/>
          </p:cNvPicPr>
          <p:nvPr/>
        </p:nvPicPr>
        <p:blipFill>
          <a:blip r:embed="rId9"/>
          <a:stretch>
            <a:fillRect/>
          </a:stretch>
        </p:blipFill>
        <p:spPr>
          <a:xfrm>
            <a:off x="8508492" y="3867912"/>
            <a:ext cx="310896" cy="310896"/>
          </a:xfrm>
          <a:prstGeom prst="rect">
            <a:avLst/>
          </a:prstGeom>
        </p:spPr>
      </p:pic>
      <p:pic>
        <p:nvPicPr>
          <p:cNvPr id="24" name="Image 9" descr="yes">    </p:cNvPr>
          <p:cNvPicPr>
            <a:picLocks noChangeAspect="1"/>
          </p:cNvPicPr>
          <p:nvPr/>
        </p:nvPicPr>
        <p:blipFill>
          <a:blip r:embed="rId10"/>
          <a:stretch>
            <a:fillRect/>
          </a:stretch>
        </p:blipFill>
        <p:spPr>
          <a:xfrm>
            <a:off x="10474452" y="3867912"/>
            <a:ext cx="310896" cy="310896"/>
          </a:xfrm>
          <a:prstGeom prst="rect">
            <a:avLst/>
          </a:prstGeom>
        </p:spPr>
      </p:pic>
      <p:sp>
        <p:nvSpPr>
          <p:cNvPr id="25" name="Shape 13"/>
          <p:cNvSpPr/>
          <p:nvPr/>
        </p:nvSpPr>
        <p:spPr>
          <a:xfrm>
            <a:off x="548640" y="4325112"/>
            <a:ext cx="11064240" cy="0"/>
          </a:xfrm>
          <a:prstGeom prst="line">
            <a:avLst/>
          </a:prstGeom>
          <a:noFill/>
          <a:ln w="12700">
            <a:solidFill>
              <a:srgbClr val="DDE1E9"/>
            </a:solidFill>
            <a:prstDash val="solid"/>
          </a:ln>
        </p:spPr>
      </p:sp>
      <p:sp>
        <p:nvSpPr>
          <p:cNvPr id="26" name="Text 14"/>
          <p:cNvSpPr txBox="1"/>
          <p:nvPr/>
        </p:nvSpPr>
        <p:spPr>
          <a:xfrm>
            <a:off x="548640" y="4325112"/>
            <a:ext cx="5029200" cy="603504"/>
          </a:xfrm>
          <a:prstGeom prst="rect">
            <a:avLst/>
          </a:prstGeom>
          <a:noFill/>
          <a:ln/>
        </p:spPr>
        <p:txBody>
          <a:bodyPr wrap="square" lIns="0" tIns="0" rIns="0" bIns="0" rtlCol="0" anchor="ctr"/>
          <a:lstStyle/>
          <a:p>
            <a:pPr indent="0" marL="0">
              <a:buNone/>
            </a:pPr>
            <a:r>
              <a:rPr lang="en-US" sz="1500" dirty="0">
                <a:solidFill>
                  <a:schemeClr val="tx1"/>
                </a:solidFill>
              </a:rPr>
              <a:t>Problems flagged before anyone complains</a:t>
            </a:r>
            <a:endParaRPr lang="en-US" sz="1500" dirty="0"/>
          </a:p>
        </p:txBody>
      </p:sp>
      <p:pic>
        <p:nvPicPr>
          <p:cNvPr id="27" name="Image 10" descr="no">    </p:cNvPr>
          <p:cNvPicPr>
            <a:picLocks noChangeAspect="1"/>
          </p:cNvPicPr>
          <p:nvPr/>
        </p:nvPicPr>
        <p:blipFill>
          <a:blip r:embed="rId11"/>
          <a:stretch>
            <a:fillRect/>
          </a:stretch>
        </p:blipFill>
        <p:spPr>
          <a:xfrm>
            <a:off x="6542532" y="4471416"/>
            <a:ext cx="310896" cy="310896"/>
          </a:xfrm>
          <a:prstGeom prst="rect">
            <a:avLst/>
          </a:prstGeom>
        </p:spPr>
      </p:pic>
      <p:pic>
        <p:nvPicPr>
          <p:cNvPr id="28" name="Image 11" descr="part">    </p:cNvPr>
          <p:cNvPicPr>
            <a:picLocks noChangeAspect="1"/>
          </p:cNvPicPr>
          <p:nvPr/>
        </p:nvPicPr>
        <p:blipFill>
          <a:blip r:embed="rId12"/>
          <a:stretch>
            <a:fillRect/>
          </a:stretch>
        </p:blipFill>
        <p:spPr>
          <a:xfrm>
            <a:off x="8508492" y="4471416"/>
            <a:ext cx="310896" cy="310896"/>
          </a:xfrm>
          <a:prstGeom prst="rect">
            <a:avLst/>
          </a:prstGeom>
        </p:spPr>
      </p:pic>
      <p:pic>
        <p:nvPicPr>
          <p:cNvPr id="29" name="Image 12" descr="yes">    </p:cNvPr>
          <p:cNvPicPr>
            <a:picLocks noChangeAspect="1"/>
          </p:cNvPicPr>
          <p:nvPr/>
        </p:nvPicPr>
        <p:blipFill>
          <a:blip r:embed="rId13"/>
          <a:stretch>
            <a:fillRect/>
          </a:stretch>
        </p:blipFill>
        <p:spPr>
          <a:xfrm>
            <a:off x="10474452" y="4471416"/>
            <a:ext cx="310896" cy="310896"/>
          </a:xfrm>
          <a:prstGeom prst="rect">
            <a:avLst/>
          </a:prstGeom>
        </p:spPr>
      </p:pic>
      <p:sp>
        <p:nvSpPr>
          <p:cNvPr id="30" name="Shape 15"/>
          <p:cNvSpPr/>
          <p:nvPr/>
        </p:nvSpPr>
        <p:spPr>
          <a:xfrm>
            <a:off x="548640" y="4928616"/>
            <a:ext cx="11064240" cy="0"/>
          </a:xfrm>
          <a:prstGeom prst="line">
            <a:avLst/>
          </a:prstGeom>
          <a:noFill/>
          <a:ln w="12700">
            <a:solidFill>
              <a:srgbClr val="DDE1E9"/>
            </a:solidFill>
            <a:prstDash val="solid"/>
          </a:ln>
        </p:spPr>
      </p:sp>
      <p:sp>
        <p:nvSpPr>
          <p:cNvPr id="31" name="Text 16"/>
          <p:cNvSpPr txBox="1"/>
          <p:nvPr/>
        </p:nvSpPr>
        <p:spPr>
          <a:xfrm>
            <a:off x="548640" y="4928616"/>
            <a:ext cx="5029200" cy="603504"/>
          </a:xfrm>
          <a:prstGeom prst="rect">
            <a:avLst/>
          </a:prstGeom>
          <a:noFill/>
          <a:ln/>
        </p:spPr>
        <p:txBody>
          <a:bodyPr wrap="square" lIns="0" tIns="0" rIns="0" bIns="0" rtlCol="0" anchor="ctr"/>
          <a:lstStyle/>
          <a:p>
            <a:pPr indent="0" marL="0">
              <a:buNone/>
            </a:pPr>
            <a:r>
              <a:rPr lang="en-US" sz="1500" dirty="0">
                <a:solidFill>
                  <a:schemeClr val="tx1"/>
                </a:solidFill>
              </a:rPr>
              <a:t>Works with few sensors; each fix updates the forecast</a:t>
            </a:r>
            <a:endParaRPr lang="en-US" sz="1500" dirty="0"/>
          </a:p>
        </p:txBody>
      </p:sp>
      <p:pic>
        <p:nvPicPr>
          <p:cNvPr id="32" name="Image 13" descr="no">    </p:cNvPr>
          <p:cNvPicPr>
            <a:picLocks noChangeAspect="1"/>
          </p:cNvPicPr>
          <p:nvPr/>
        </p:nvPicPr>
        <p:blipFill>
          <a:blip r:embed="rId14"/>
          <a:stretch>
            <a:fillRect/>
          </a:stretch>
        </p:blipFill>
        <p:spPr>
          <a:xfrm>
            <a:off x="6542532" y="5074920"/>
            <a:ext cx="310896" cy="310896"/>
          </a:xfrm>
          <a:prstGeom prst="rect">
            <a:avLst/>
          </a:prstGeom>
        </p:spPr>
      </p:pic>
      <p:pic>
        <p:nvPicPr>
          <p:cNvPr id="33" name="Image 14" descr="no">    </p:cNvPr>
          <p:cNvPicPr>
            <a:picLocks noChangeAspect="1"/>
          </p:cNvPicPr>
          <p:nvPr/>
        </p:nvPicPr>
        <p:blipFill>
          <a:blip r:embed="rId15"/>
          <a:stretch>
            <a:fillRect/>
          </a:stretch>
        </p:blipFill>
        <p:spPr>
          <a:xfrm>
            <a:off x="8508492" y="5074920"/>
            <a:ext cx="310896" cy="310896"/>
          </a:xfrm>
          <a:prstGeom prst="rect">
            <a:avLst/>
          </a:prstGeom>
        </p:spPr>
      </p:pic>
      <p:pic>
        <p:nvPicPr>
          <p:cNvPr id="34" name="Image 15" descr="yes">    </p:cNvPr>
          <p:cNvPicPr>
            <a:picLocks noChangeAspect="1"/>
          </p:cNvPicPr>
          <p:nvPr/>
        </p:nvPicPr>
        <p:blipFill>
          <a:blip r:embed="rId16"/>
          <a:stretch>
            <a:fillRect/>
          </a:stretch>
        </p:blipFill>
        <p:spPr>
          <a:xfrm>
            <a:off x="10474452" y="5074920"/>
            <a:ext cx="310896" cy="310896"/>
          </a:xfrm>
          <a:prstGeom prst="rect">
            <a:avLst/>
          </a:prstGeom>
        </p:spPr>
      </p:pic>
      <p:pic>
        <p:nvPicPr>
          <p:cNvPr id="35" name="Image 16" descr="C:\Users\faiqs\AppData\Local\Temp\claude\C--Users-faiqs-Desktop-SIME-DARBY\1db49c24-6d29-4c60-bea1-a1554db1f55f\scratchpad\deck\img\mk-yes.png">    </p:cNvPr>
          <p:cNvPicPr>
            <a:picLocks noChangeAspect="1"/>
          </p:cNvPicPr>
          <p:nvPr/>
        </p:nvPicPr>
        <p:blipFill>
          <a:blip r:embed="rId17"/>
          <a:stretch>
            <a:fillRect/>
          </a:stretch>
        </p:blipFill>
        <p:spPr>
          <a:xfrm>
            <a:off x="548640" y="5788152"/>
            <a:ext cx="201168" cy="201168"/>
          </a:xfrm>
          <a:prstGeom prst="rect">
            <a:avLst/>
          </a:prstGeom>
        </p:spPr>
      </p:pic>
      <p:sp>
        <p:nvSpPr>
          <p:cNvPr id="36" name="Text 17"/>
          <p:cNvSpPr txBox="1"/>
          <p:nvPr/>
        </p:nvSpPr>
        <p:spPr>
          <a:xfrm>
            <a:off x="804672" y="5760720"/>
            <a:ext cx="731520" cy="256032"/>
          </a:xfrm>
          <a:prstGeom prst="rect">
            <a:avLst/>
          </a:prstGeom>
          <a:noFill/>
          <a:ln/>
        </p:spPr>
        <p:txBody>
          <a:bodyPr wrap="square" lIns="0" tIns="0" rIns="0" bIns="0" rtlCol="0" anchor="ctr"/>
          <a:lstStyle/>
          <a:p>
            <a:pPr indent="0" marL="0">
              <a:buNone/>
            </a:pPr>
            <a:r>
              <a:rPr lang="en-US" sz="1100" dirty="0">
                <a:solidFill>
                  <a:srgbClr val="5B6377"/>
                </a:solidFill>
              </a:rPr>
              <a:t>Yes</a:t>
            </a:r>
            <a:endParaRPr lang="en-US" sz="1100" dirty="0"/>
          </a:p>
        </p:txBody>
      </p:sp>
      <p:pic>
        <p:nvPicPr>
          <p:cNvPr id="37" name="Image 17" descr="C:\Users\faiqs\AppData\Local\Temp\claude\C--Users-faiqs-Desktop-SIME-DARBY\1db49c24-6d29-4c60-bea1-a1554db1f55f\scratchpad\deck\img\mk-part.png">    </p:cNvPr>
          <p:cNvPicPr>
            <a:picLocks noChangeAspect="1"/>
          </p:cNvPicPr>
          <p:nvPr/>
        </p:nvPicPr>
        <p:blipFill>
          <a:blip r:embed="rId18"/>
          <a:stretch>
            <a:fillRect/>
          </a:stretch>
        </p:blipFill>
        <p:spPr>
          <a:xfrm>
            <a:off x="1600200" y="5788152"/>
            <a:ext cx="201168" cy="201168"/>
          </a:xfrm>
          <a:prstGeom prst="rect">
            <a:avLst/>
          </a:prstGeom>
        </p:spPr>
      </p:pic>
      <p:sp>
        <p:nvSpPr>
          <p:cNvPr id="38" name="Text 18"/>
          <p:cNvSpPr txBox="1"/>
          <p:nvPr/>
        </p:nvSpPr>
        <p:spPr>
          <a:xfrm>
            <a:off x="1856232" y="5760720"/>
            <a:ext cx="731520" cy="256032"/>
          </a:xfrm>
          <a:prstGeom prst="rect">
            <a:avLst/>
          </a:prstGeom>
          <a:noFill/>
          <a:ln/>
        </p:spPr>
        <p:txBody>
          <a:bodyPr wrap="square" lIns="0" tIns="0" rIns="0" bIns="0" rtlCol="0" anchor="ctr"/>
          <a:lstStyle/>
          <a:p>
            <a:pPr indent="0" marL="0">
              <a:buNone/>
            </a:pPr>
            <a:r>
              <a:rPr lang="en-US" sz="1100" dirty="0">
                <a:solidFill>
                  <a:srgbClr val="5B6377"/>
                </a:solidFill>
              </a:rPr>
              <a:t>Partly</a:t>
            </a:r>
            <a:endParaRPr lang="en-US" sz="1100" dirty="0"/>
          </a:p>
        </p:txBody>
      </p:sp>
      <p:pic>
        <p:nvPicPr>
          <p:cNvPr id="39" name="Image 18" descr="C:\Users\faiqs\AppData\Local\Temp\claude\C--Users-faiqs-Desktop-SIME-DARBY\1db49c24-6d29-4c60-bea1-a1554db1f55f\scratchpad\deck\img\mk-no.png">    </p:cNvPr>
          <p:cNvPicPr>
            <a:picLocks noChangeAspect="1"/>
          </p:cNvPicPr>
          <p:nvPr/>
        </p:nvPicPr>
        <p:blipFill>
          <a:blip r:embed="rId19"/>
          <a:stretch>
            <a:fillRect/>
          </a:stretch>
        </p:blipFill>
        <p:spPr>
          <a:xfrm>
            <a:off x="2651760" y="5788152"/>
            <a:ext cx="201168" cy="201168"/>
          </a:xfrm>
          <a:prstGeom prst="rect">
            <a:avLst/>
          </a:prstGeom>
        </p:spPr>
      </p:pic>
      <p:sp>
        <p:nvSpPr>
          <p:cNvPr id="40" name="Text 19"/>
          <p:cNvSpPr txBox="1"/>
          <p:nvPr/>
        </p:nvSpPr>
        <p:spPr>
          <a:xfrm>
            <a:off x="2907792" y="5760720"/>
            <a:ext cx="731520" cy="256032"/>
          </a:xfrm>
          <a:prstGeom prst="rect">
            <a:avLst/>
          </a:prstGeom>
          <a:noFill/>
          <a:ln/>
        </p:spPr>
        <p:txBody>
          <a:bodyPr wrap="square" lIns="0" tIns="0" rIns="0" bIns="0" rtlCol="0" anchor="ctr"/>
          <a:lstStyle/>
          <a:p>
            <a:pPr indent="0" marL="0">
              <a:buNone/>
            </a:pPr>
            <a:r>
              <a:rPr lang="en-US" sz="1100" dirty="0">
                <a:solidFill>
                  <a:srgbClr val="5B6377"/>
                </a:solidFill>
              </a:rPr>
              <a:t>No</a:t>
            </a:r>
            <a:endParaRPr lang="en-US" sz="1100" dirty="0"/>
          </a:p>
        </p:txBody>
      </p:sp>
      <p:sp>
        <p:nvSpPr>
          <p:cNvPr id="41" name="Text 20"/>
          <p:cNvSpPr txBox="1"/>
          <p:nvPr/>
        </p:nvSpPr>
        <p:spPr>
          <a:xfrm>
            <a:off x="3749040" y="5760720"/>
            <a:ext cx="7863840" cy="256032"/>
          </a:xfrm>
          <a:prstGeom prst="rect">
            <a:avLst/>
          </a:prstGeom>
          <a:noFill/>
          <a:ln/>
        </p:spPr>
        <p:txBody>
          <a:bodyPr wrap="square" lIns="0" tIns="0" rIns="0" bIns="0" rtlCol="0" anchor="ctr"/>
          <a:lstStyle/>
          <a:p>
            <a:pPr indent="0" marL="0">
              <a:buNone/>
            </a:pPr>
            <a:r>
              <a:rPr lang="en-US" sz="1100" dirty="0">
                <a:solidFill>
                  <a:srgbClr val="5B6377"/>
                </a:solidFill>
              </a:rPr>
              <a:t>Typical maintenance software: generic work-order systems; features vary by product.</a:t>
            </a:r>
            <a:endParaRPr lang="en-US" sz="11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1"/>
                </a:solidFill>
              </a:rPr>
              <a:t>5  ·  HOW IT WORKS</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tx2"/>
                </a:solidFill>
              </a:rPr>
              <a:t>From first signal to fixed, in one loop</a:t>
            </a:r>
            <a:endParaRPr lang="en-US" sz="3200" dirty="0"/>
          </a:p>
        </p:txBody>
      </p:sp>
      <p:sp>
        <p:nvSpPr>
          <p:cNvPr id="4" name="Signals in stage"/>
          <p:cNvSpPr/>
          <p:nvPr/>
        </p:nvSpPr>
        <p:spPr>
          <a:xfrm>
            <a:off x="548640" y="1783080"/>
            <a:ext cx="2514600" cy="3429000"/>
          </a:xfrm>
          <a:prstGeom prst="roundRect">
            <a:avLst>
              <a:gd name="adj" fmla="val 4364"/>
            </a:avLst>
          </a:prstGeom>
          <a:solidFill>
            <a:schemeClr val="bg2"/>
          </a:solidFill>
          <a:ln w="12700">
            <a:solidFill>
              <a:schemeClr val="bg2"/>
            </a:solidFill>
            <a:prstDash val="solid"/>
          </a:ln>
        </p:spPr>
      </p:sp>
      <p:pic>
        <p:nvPicPr>
          <p:cNvPr id="5" name="Image 0" descr="C:\Users\faiqs\AppData\Local\Temp\claude\C--Users-faiqs-Desktop-SIME-DARBY\1db49c24-6d29-4c60-bea1-a1554db1f55f\scratchpad\deck\img\ic-database.png">    </p:cNvPr>
          <p:cNvPicPr>
            <a:picLocks noChangeAspect="1"/>
          </p:cNvPicPr>
          <p:nvPr/>
        </p:nvPicPr>
        <p:blipFill>
          <a:blip r:embed="rId1"/>
          <a:stretch>
            <a:fillRect/>
          </a:stretch>
        </p:blipFill>
        <p:spPr>
          <a:xfrm>
            <a:off x="777240" y="2011680"/>
            <a:ext cx="502920" cy="502920"/>
          </a:xfrm>
          <a:prstGeom prst="rect">
            <a:avLst/>
          </a:prstGeom>
        </p:spPr>
      </p:pic>
      <p:sp>
        <p:nvSpPr>
          <p:cNvPr id="6" name="Text 3"/>
          <p:cNvSpPr txBox="1"/>
          <p:nvPr/>
        </p:nvSpPr>
        <p:spPr>
          <a:xfrm>
            <a:off x="2286000" y="2029968"/>
            <a:ext cx="548640" cy="411480"/>
          </a:xfrm>
          <a:prstGeom prst="rect">
            <a:avLst/>
          </a:prstGeom>
          <a:noFill/>
          <a:ln/>
        </p:spPr>
        <p:txBody>
          <a:bodyPr wrap="square" lIns="0" tIns="0" rIns="0" bIns="0" rtlCol="0" anchor="t"/>
          <a:lstStyle/>
          <a:p>
            <a:pPr algn="r" indent="0" marL="0">
              <a:buNone/>
            </a:pPr>
            <a:r>
              <a:rPr lang="en-US" sz="2000" b="1" dirty="0">
                <a:solidFill>
                  <a:schemeClr val="accent1"/>
                </a:solidFill>
              </a:rPr>
              <a:t>01</a:t>
            </a:r>
            <a:endParaRPr lang="en-US" sz="2000" dirty="0"/>
          </a:p>
        </p:txBody>
      </p:sp>
      <p:sp>
        <p:nvSpPr>
          <p:cNvPr id="7" name="Text 4"/>
          <p:cNvSpPr txBox="1"/>
          <p:nvPr/>
        </p:nvSpPr>
        <p:spPr>
          <a:xfrm>
            <a:off x="777240" y="2651760"/>
            <a:ext cx="2103120" cy="365760"/>
          </a:xfrm>
          <a:prstGeom prst="rect">
            <a:avLst/>
          </a:prstGeom>
          <a:noFill/>
          <a:ln/>
        </p:spPr>
        <p:txBody>
          <a:bodyPr wrap="square" lIns="0" tIns="0" rIns="0" bIns="0" rtlCol="0" anchor="t"/>
          <a:lstStyle/>
          <a:p>
            <a:pPr indent="0" marL="0">
              <a:buNone/>
            </a:pPr>
            <a:r>
              <a:rPr lang="en-US" sz="1800" b="1" dirty="0">
                <a:solidFill>
                  <a:schemeClr val="tx2"/>
                </a:solidFill>
              </a:rPr>
              <a:t>Signals in</a:t>
            </a:r>
            <a:endParaRPr lang="en-US" sz="1800" dirty="0"/>
          </a:p>
        </p:txBody>
      </p:sp>
      <p:sp>
        <p:nvSpPr>
          <p:cNvPr id="8" name="Text 5"/>
          <p:cNvSpPr txBox="1"/>
          <p:nvPr/>
        </p:nvSpPr>
        <p:spPr>
          <a:xfrm>
            <a:off x="777240" y="31089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Asset records and inspections</a:t>
            </a:r>
            <a:endParaRPr lang="en-US" sz="1400" dirty="0"/>
          </a:p>
          <a:p>
            <a:pPr marL="342900" indent="-342900">
              <a:spcAft>
                <a:spcPts val="500"/>
              </a:spcAft>
              <a:buSzPct val="100000"/>
              <a:buChar char="•"/>
            </a:pPr>
            <a:r>
              <a:rPr lang="en-US" sz="1400" dirty="0">
                <a:solidFill>
                  <a:schemeClr val="tx1"/>
                </a:solidFill>
              </a:rPr>
              <a:t>Sensors, where they exist</a:t>
            </a:r>
            <a:endParaRPr lang="en-US" sz="1400" dirty="0"/>
          </a:p>
          <a:p>
            <a:pPr marL="342900" indent="-342900">
              <a:spcAft>
                <a:spcPts val="500"/>
              </a:spcAft>
              <a:buSzPct val="100000"/>
              <a:buChar char="•"/>
            </a:pPr>
            <a:r>
              <a:rPr lang="en-US" sz="1400" dirty="0">
                <a:solidFill>
                  <a:schemeClr val="tx1"/>
                </a:solidFill>
              </a:rPr>
              <a:t>Reports from every channel</a:t>
            </a:r>
            <a:endParaRPr lang="en-US" sz="1400" dirty="0"/>
          </a:p>
          <a:p>
            <a:pPr marL="342900" indent="-342900">
              <a:spcAft>
                <a:spcPts val="500"/>
              </a:spcAft>
              <a:buSzPct val="100000"/>
              <a:buChar char="•"/>
            </a:pPr>
            <a:r>
              <a:rPr lang="en-US" sz="1400" dirty="0">
                <a:solidFill>
                  <a:schemeClr val="tx1"/>
                </a:solidFill>
              </a:rPr>
              <a:t>Weather forecast</a:t>
            </a:r>
            <a:endParaRPr lang="en-US" sz="1400" dirty="0"/>
          </a:p>
        </p:txBody>
      </p:sp>
      <p:sp>
        <p:nvSpPr>
          <p:cNvPr id="9" name="Shape 6"/>
          <p:cNvSpPr/>
          <p:nvPr/>
        </p:nvSpPr>
        <p:spPr>
          <a:xfrm>
            <a:off x="3108960" y="3291840"/>
            <a:ext cx="237744" cy="365760"/>
          </a:xfrm>
          <a:prstGeom prst="chevron">
            <a:avLst/>
          </a:prstGeom>
          <a:solidFill>
            <a:schemeClr val="accent1"/>
          </a:solidFill>
          <a:ln w="12700">
            <a:solidFill>
              <a:schemeClr val="accent1"/>
            </a:solidFill>
            <a:prstDash val="solid"/>
          </a:ln>
        </p:spPr>
      </p:sp>
      <p:sp>
        <p:nvSpPr>
          <p:cNvPr id="10" name="MetroSense engine stage"/>
          <p:cNvSpPr/>
          <p:nvPr/>
        </p:nvSpPr>
        <p:spPr>
          <a:xfrm>
            <a:off x="3383280" y="1783080"/>
            <a:ext cx="2514600" cy="3429000"/>
          </a:xfrm>
          <a:prstGeom prst="roundRect">
            <a:avLst>
              <a:gd name="adj" fmla="val 4364"/>
            </a:avLst>
          </a:prstGeom>
          <a:solidFill>
            <a:schemeClr val="tx2"/>
          </a:solidFill>
          <a:ln w="12700">
            <a:solidFill>
              <a:schemeClr val="tx2"/>
            </a:solidFill>
            <a:prstDash val="solid"/>
          </a:ln>
        </p:spPr>
      </p:sp>
      <p:pic>
        <p:nvPicPr>
          <p:cNvPr id="11" name="Image 1" descr="C:\Users\faiqs\AppData\Local\Temp\claude\C--Users-faiqs-Desktop-SIME-DARBY\1db49c24-6d29-4c60-bea1-a1554db1f55f\scratchpad\deck\img\ic-cpu.png">    </p:cNvPr>
          <p:cNvPicPr>
            <a:picLocks noChangeAspect="1"/>
          </p:cNvPicPr>
          <p:nvPr/>
        </p:nvPicPr>
        <p:blipFill>
          <a:blip r:embed="rId2"/>
          <a:stretch>
            <a:fillRect/>
          </a:stretch>
        </p:blipFill>
        <p:spPr>
          <a:xfrm>
            <a:off x="3611880" y="2011680"/>
            <a:ext cx="502920" cy="502920"/>
          </a:xfrm>
          <a:prstGeom prst="rect">
            <a:avLst/>
          </a:prstGeom>
        </p:spPr>
      </p:pic>
      <p:sp>
        <p:nvSpPr>
          <p:cNvPr id="12" name="Text 8"/>
          <p:cNvSpPr txBox="1"/>
          <p:nvPr/>
        </p:nvSpPr>
        <p:spPr>
          <a:xfrm>
            <a:off x="5120640" y="2029968"/>
            <a:ext cx="548640" cy="411480"/>
          </a:xfrm>
          <a:prstGeom prst="rect">
            <a:avLst/>
          </a:prstGeom>
          <a:noFill/>
          <a:ln/>
        </p:spPr>
        <p:txBody>
          <a:bodyPr wrap="square" lIns="0" tIns="0" rIns="0" bIns="0" rtlCol="0" anchor="t"/>
          <a:lstStyle/>
          <a:p>
            <a:pPr algn="r" indent="0" marL="0">
              <a:buNone/>
            </a:pPr>
            <a:r>
              <a:rPr lang="en-US" sz="2000" b="1" dirty="0">
                <a:solidFill>
                  <a:schemeClr val="accent3"/>
                </a:solidFill>
              </a:rPr>
              <a:t>02</a:t>
            </a:r>
            <a:endParaRPr lang="en-US" sz="2000" dirty="0"/>
          </a:p>
        </p:txBody>
      </p:sp>
      <p:sp>
        <p:nvSpPr>
          <p:cNvPr id="13" name="Text 9"/>
          <p:cNvSpPr txBox="1"/>
          <p:nvPr/>
        </p:nvSpPr>
        <p:spPr>
          <a:xfrm>
            <a:off x="3611880" y="2651760"/>
            <a:ext cx="2103120" cy="365760"/>
          </a:xfrm>
          <a:prstGeom prst="rect">
            <a:avLst/>
          </a:prstGeom>
          <a:noFill/>
          <a:ln/>
        </p:spPr>
        <p:txBody>
          <a:bodyPr wrap="square" lIns="0" tIns="0" rIns="0" bIns="0" rtlCol="0" anchor="t"/>
          <a:lstStyle/>
          <a:p>
            <a:pPr indent="0" marL="0">
              <a:buNone/>
            </a:pPr>
            <a:r>
              <a:rPr lang="en-US" sz="1800" b="1" dirty="0">
                <a:solidFill>
                  <a:schemeClr val="bg1"/>
                </a:solidFill>
              </a:rPr>
              <a:t>MetroSense engine</a:t>
            </a:r>
            <a:endParaRPr lang="en-US" sz="1800" dirty="0"/>
          </a:p>
        </p:txBody>
      </p:sp>
      <p:sp>
        <p:nvSpPr>
          <p:cNvPr id="14" name="Text 10"/>
          <p:cNvSpPr txBox="1"/>
          <p:nvPr/>
        </p:nvSpPr>
        <p:spPr>
          <a:xfrm>
            <a:off x="3611880" y="31089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Risk score for every asset</a:t>
            </a:r>
            <a:endParaRPr lang="en-US" sz="1400" dirty="0"/>
          </a:p>
          <a:p>
            <a:pPr marL="342900" indent="-342900">
              <a:spcAft>
                <a:spcPts val="500"/>
              </a:spcAft>
              <a:buSzPct val="100000"/>
              <a:buChar char="•"/>
            </a:pPr>
            <a:r>
              <a:rPr lang="en-US" sz="1400" dirty="0">
                <a:solidFill>
                  <a:schemeClr val="bg1"/>
                </a:solidFill>
              </a:rPr>
              <a:t>Forecast up to 5 years</a:t>
            </a:r>
            <a:endParaRPr lang="en-US" sz="1400" dirty="0"/>
          </a:p>
          <a:p>
            <a:pPr marL="342900" indent="-342900">
              <a:spcAft>
                <a:spcPts val="500"/>
              </a:spcAft>
              <a:buSzPct val="100000"/>
              <a:buChar char="•"/>
            </a:pPr>
            <a:r>
              <a:rPr lang="en-US" sz="1400" dirty="0">
                <a:solidFill>
                  <a:schemeClr val="bg1"/>
                </a:solidFill>
              </a:rPr>
              <a:t>Reports merged and matched</a:t>
            </a:r>
            <a:endParaRPr lang="en-US" sz="1400" dirty="0"/>
          </a:p>
        </p:txBody>
      </p:sp>
      <p:sp>
        <p:nvSpPr>
          <p:cNvPr id="15" name="Shape 11"/>
          <p:cNvSpPr/>
          <p:nvPr/>
        </p:nvSpPr>
        <p:spPr>
          <a:xfrm>
            <a:off x="5943600" y="3291840"/>
            <a:ext cx="237744" cy="365760"/>
          </a:xfrm>
          <a:prstGeom prst="chevron">
            <a:avLst/>
          </a:prstGeom>
          <a:solidFill>
            <a:schemeClr val="accent1"/>
          </a:solidFill>
          <a:ln w="12700">
            <a:solidFill>
              <a:schemeClr val="accent1"/>
            </a:solidFill>
            <a:prstDash val="solid"/>
          </a:ln>
        </p:spPr>
      </p:sp>
      <p:sp>
        <p:nvSpPr>
          <p:cNvPr id="16" name="Routed out stage"/>
          <p:cNvSpPr/>
          <p:nvPr/>
        </p:nvSpPr>
        <p:spPr>
          <a:xfrm>
            <a:off x="6217920" y="1783080"/>
            <a:ext cx="2514600" cy="3429000"/>
          </a:xfrm>
          <a:prstGeom prst="roundRect">
            <a:avLst>
              <a:gd name="adj" fmla="val 4364"/>
            </a:avLst>
          </a:prstGeom>
          <a:solidFill>
            <a:schemeClr val="bg2"/>
          </a:solidFill>
          <a:ln w="12700">
            <a:solidFill>
              <a:schemeClr val="bg2"/>
            </a:solidFill>
            <a:prstDash val="solid"/>
          </a:ln>
        </p:spPr>
      </p:sp>
      <p:pic>
        <p:nvPicPr>
          <p:cNvPr id="17" name="Image 2" descr="C:\Users\faiqs\AppData\Local\Temp\claude\C--Users-faiqs-Desktop-SIME-DARBY\1db49c24-6d29-4c60-bea1-a1554db1f55f\scratchpad\deck\img\ic-route.png">    </p:cNvPr>
          <p:cNvPicPr>
            <a:picLocks noChangeAspect="1"/>
          </p:cNvPicPr>
          <p:nvPr/>
        </p:nvPicPr>
        <p:blipFill>
          <a:blip r:embed="rId3"/>
          <a:stretch>
            <a:fillRect/>
          </a:stretch>
        </p:blipFill>
        <p:spPr>
          <a:xfrm>
            <a:off x="6446520" y="2011680"/>
            <a:ext cx="502920" cy="502920"/>
          </a:xfrm>
          <a:prstGeom prst="rect">
            <a:avLst/>
          </a:prstGeom>
        </p:spPr>
      </p:pic>
      <p:sp>
        <p:nvSpPr>
          <p:cNvPr id="18" name="Text 13"/>
          <p:cNvSpPr txBox="1"/>
          <p:nvPr/>
        </p:nvSpPr>
        <p:spPr>
          <a:xfrm>
            <a:off x="7955280" y="2029968"/>
            <a:ext cx="548640" cy="411480"/>
          </a:xfrm>
          <a:prstGeom prst="rect">
            <a:avLst/>
          </a:prstGeom>
          <a:noFill/>
          <a:ln/>
        </p:spPr>
        <p:txBody>
          <a:bodyPr wrap="square" lIns="0" tIns="0" rIns="0" bIns="0" rtlCol="0" anchor="t"/>
          <a:lstStyle/>
          <a:p>
            <a:pPr algn="r" indent="0" marL="0">
              <a:buNone/>
            </a:pPr>
            <a:r>
              <a:rPr lang="en-US" sz="2000" b="1" dirty="0">
                <a:solidFill>
                  <a:schemeClr val="accent1"/>
                </a:solidFill>
              </a:rPr>
              <a:t>03</a:t>
            </a:r>
            <a:endParaRPr lang="en-US" sz="2000" dirty="0"/>
          </a:p>
        </p:txBody>
      </p:sp>
      <p:sp>
        <p:nvSpPr>
          <p:cNvPr id="19" name="Text 14"/>
          <p:cNvSpPr txBox="1"/>
          <p:nvPr/>
        </p:nvSpPr>
        <p:spPr>
          <a:xfrm>
            <a:off x="6446520" y="2651760"/>
            <a:ext cx="2103120" cy="365760"/>
          </a:xfrm>
          <a:prstGeom prst="rect">
            <a:avLst/>
          </a:prstGeom>
          <a:noFill/>
          <a:ln/>
        </p:spPr>
        <p:txBody>
          <a:bodyPr wrap="square" lIns="0" tIns="0" rIns="0" bIns="0" rtlCol="0" anchor="t"/>
          <a:lstStyle/>
          <a:p>
            <a:pPr indent="0" marL="0">
              <a:buNone/>
            </a:pPr>
            <a:r>
              <a:rPr lang="en-US" sz="1800" b="1" dirty="0">
                <a:solidFill>
                  <a:schemeClr val="tx2"/>
                </a:solidFill>
              </a:rPr>
              <a:t>Routed out</a:t>
            </a:r>
            <a:endParaRPr lang="en-US" sz="1800" dirty="0"/>
          </a:p>
        </p:txBody>
      </p:sp>
      <p:sp>
        <p:nvSpPr>
          <p:cNvPr id="20" name="Text 15"/>
          <p:cNvSpPr txBox="1"/>
          <p:nvPr/>
        </p:nvSpPr>
        <p:spPr>
          <a:xfrm>
            <a:off x="6446520" y="31089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Work order to the right owner</a:t>
            </a:r>
            <a:endParaRPr lang="en-US" sz="1400" dirty="0"/>
          </a:p>
          <a:p>
            <a:pPr marL="342900" indent="-342900">
              <a:spcAft>
                <a:spcPts val="500"/>
              </a:spcAft>
              <a:buSzPct val="100000"/>
              <a:buChar char="•"/>
            </a:pPr>
            <a:r>
              <a:rPr lang="en-US" sz="1400" dirty="0">
                <a:solidFill>
                  <a:schemeClr val="tx1"/>
                </a:solidFill>
              </a:rPr>
              <a:t>Location, model and photo</a:t>
            </a:r>
            <a:endParaRPr lang="en-US" sz="1400" dirty="0"/>
          </a:p>
          <a:p>
            <a:pPr marL="342900" indent="-342900">
              <a:spcAft>
                <a:spcPts val="500"/>
              </a:spcAft>
              <a:buSzPct val="100000"/>
              <a:buChar char="•"/>
            </a:pPr>
            <a:r>
              <a:rPr lang="en-US" sz="1400" dirty="0">
                <a:solidFill>
                  <a:schemeClr val="tx1"/>
                </a:solidFill>
              </a:rPr>
              <a:t>Critical items flagged</a:t>
            </a:r>
            <a:endParaRPr lang="en-US" sz="1400" dirty="0"/>
          </a:p>
        </p:txBody>
      </p:sp>
      <p:sp>
        <p:nvSpPr>
          <p:cNvPr id="21" name="Shape 16"/>
          <p:cNvSpPr/>
          <p:nvPr/>
        </p:nvSpPr>
        <p:spPr>
          <a:xfrm>
            <a:off x="8778240" y="3291840"/>
            <a:ext cx="237744" cy="365760"/>
          </a:xfrm>
          <a:prstGeom prst="chevron">
            <a:avLst/>
          </a:prstGeom>
          <a:solidFill>
            <a:schemeClr val="accent1"/>
          </a:solidFill>
          <a:ln w="12700">
            <a:solidFill>
              <a:schemeClr val="accent1"/>
            </a:solidFill>
            <a:prstDash val="solid"/>
          </a:ln>
        </p:spPr>
      </p:sp>
      <p:sp>
        <p:nvSpPr>
          <p:cNvPr id="22" name="Loop closes stage"/>
          <p:cNvSpPr/>
          <p:nvPr/>
        </p:nvSpPr>
        <p:spPr>
          <a:xfrm>
            <a:off x="9052560" y="1783080"/>
            <a:ext cx="2514600" cy="3429000"/>
          </a:xfrm>
          <a:prstGeom prst="roundRect">
            <a:avLst>
              <a:gd name="adj" fmla="val 4364"/>
            </a:avLst>
          </a:prstGeom>
          <a:solidFill>
            <a:schemeClr val="bg2"/>
          </a:solidFill>
          <a:ln w="12700">
            <a:solidFill>
              <a:schemeClr val="bg2"/>
            </a:solidFill>
            <a:prstDash val="solid"/>
          </a:ln>
        </p:spPr>
      </p:sp>
      <p:pic>
        <p:nvPicPr>
          <p:cNvPr id="23" name="Image 3" descr="C:\Users\faiqs\AppData\Local\Temp\claude\C--Users-faiqs-Desktop-SIME-DARBY\1db49c24-6d29-4c60-bea1-a1554db1f55f\scratchpad\deck\img\ic-bell.png">    </p:cNvPr>
          <p:cNvPicPr>
            <a:picLocks noChangeAspect="1"/>
          </p:cNvPicPr>
          <p:nvPr/>
        </p:nvPicPr>
        <p:blipFill>
          <a:blip r:embed="rId4"/>
          <a:stretch>
            <a:fillRect/>
          </a:stretch>
        </p:blipFill>
        <p:spPr>
          <a:xfrm>
            <a:off x="9281160" y="2011680"/>
            <a:ext cx="502920" cy="502920"/>
          </a:xfrm>
          <a:prstGeom prst="rect">
            <a:avLst/>
          </a:prstGeom>
        </p:spPr>
      </p:pic>
      <p:sp>
        <p:nvSpPr>
          <p:cNvPr id="24" name="Text 18"/>
          <p:cNvSpPr txBox="1"/>
          <p:nvPr/>
        </p:nvSpPr>
        <p:spPr>
          <a:xfrm>
            <a:off x="10789920" y="2029968"/>
            <a:ext cx="548640" cy="411480"/>
          </a:xfrm>
          <a:prstGeom prst="rect">
            <a:avLst/>
          </a:prstGeom>
          <a:noFill/>
          <a:ln/>
        </p:spPr>
        <p:txBody>
          <a:bodyPr wrap="square" lIns="0" tIns="0" rIns="0" bIns="0" rtlCol="0" anchor="t"/>
          <a:lstStyle/>
          <a:p>
            <a:pPr algn="r" indent="0" marL="0">
              <a:buNone/>
            </a:pPr>
            <a:r>
              <a:rPr lang="en-US" sz="2000" b="1" dirty="0">
                <a:solidFill>
                  <a:schemeClr val="accent1"/>
                </a:solidFill>
              </a:rPr>
              <a:t>04</a:t>
            </a:r>
            <a:endParaRPr lang="en-US" sz="2000" dirty="0"/>
          </a:p>
        </p:txBody>
      </p:sp>
      <p:sp>
        <p:nvSpPr>
          <p:cNvPr id="25" name="Text 19"/>
          <p:cNvSpPr txBox="1"/>
          <p:nvPr/>
        </p:nvSpPr>
        <p:spPr>
          <a:xfrm>
            <a:off x="9281160" y="2651760"/>
            <a:ext cx="2103120" cy="365760"/>
          </a:xfrm>
          <a:prstGeom prst="rect">
            <a:avLst/>
          </a:prstGeom>
          <a:noFill/>
          <a:ln/>
        </p:spPr>
        <p:txBody>
          <a:bodyPr wrap="square" lIns="0" tIns="0" rIns="0" bIns="0" rtlCol="0" anchor="t"/>
          <a:lstStyle/>
          <a:p>
            <a:pPr indent="0" marL="0">
              <a:buNone/>
            </a:pPr>
            <a:r>
              <a:rPr lang="en-US" sz="1800" b="1" dirty="0">
                <a:solidFill>
                  <a:schemeClr val="tx2"/>
                </a:solidFill>
              </a:rPr>
              <a:t>Loop closes</a:t>
            </a:r>
            <a:endParaRPr lang="en-US" sz="1800" dirty="0"/>
          </a:p>
        </p:txBody>
      </p:sp>
      <p:sp>
        <p:nvSpPr>
          <p:cNvPr id="26" name="Text 20"/>
          <p:cNvSpPr txBox="1"/>
          <p:nvPr/>
        </p:nvSpPr>
        <p:spPr>
          <a:xfrm>
            <a:off x="9281160" y="31089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Reporter updated each step</a:t>
            </a:r>
            <a:endParaRPr lang="en-US" sz="1400" dirty="0"/>
          </a:p>
          <a:p>
            <a:pPr marL="342900" indent="-342900">
              <a:spcAft>
                <a:spcPts val="500"/>
              </a:spcAft>
              <a:buSzPct val="100000"/>
              <a:buChar char="•"/>
            </a:pPr>
            <a:r>
              <a:rPr lang="en-US" sz="1400" dirty="0">
                <a:solidFill>
                  <a:schemeClr val="tx1"/>
                </a:solidFill>
              </a:rPr>
              <a:t>Fix resets the asset's risk</a:t>
            </a:r>
            <a:endParaRPr lang="en-US" sz="1400" dirty="0"/>
          </a:p>
          <a:p>
            <a:pPr marL="342900" indent="-342900">
              <a:spcAft>
                <a:spcPts val="500"/>
              </a:spcAft>
              <a:buSzPct val="100000"/>
              <a:buChar char="•"/>
            </a:pPr>
            <a:r>
              <a:rPr lang="en-US" sz="1400" dirty="0">
                <a:solidFill>
                  <a:schemeClr val="tx1"/>
                </a:solidFill>
              </a:rPr>
              <a:t>Next forecast learns the repair</a:t>
            </a:r>
            <a:endParaRPr lang="en-US" sz="1400" dirty="0"/>
          </a:p>
        </p:txBody>
      </p:sp>
      <p:sp>
        <p:nvSpPr>
          <p:cNvPr id="27" name="Shape 21"/>
          <p:cNvSpPr/>
          <p:nvPr/>
        </p:nvSpPr>
        <p:spPr>
          <a:xfrm>
            <a:off x="10309860" y="5212080"/>
            <a:ext cx="0" cy="411480"/>
          </a:xfrm>
          <a:prstGeom prst="line">
            <a:avLst/>
          </a:prstGeom>
          <a:noFill/>
          <a:ln w="25400">
            <a:solidFill>
              <a:srgbClr val="0E7C86"/>
            </a:solidFill>
            <a:prstDash val="solid"/>
          </a:ln>
        </p:spPr>
      </p:sp>
      <p:sp>
        <p:nvSpPr>
          <p:cNvPr id="28" name="Shape 22"/>
          <p:cNvSpPr/>
          <p:nvPr/>
        </p:nvSpPr>
        <p:spPr>
          <a:xfrm>
            <a:off x="4640580" y="5623560"/>
            <a:ext cx="5669280" cy="0"/>
          </a:xfrm>
          <a:prstGeom prst="line">
            <a:avLst/>
          </a:prstGeom>
          <a:noFill/>
          <a:ln w="25400">
            <a:solidFill>
              <a:srgbClr val="0E7C86"/>
            </a:solidFill>
            <a:prstDash val="solid"/>
          </a:ln>
        </p:spPr>
      </p:sp>
      <p:sp>
        <p:nvSpPr>
          <p:cNvPr id="29" name="Shape 23"/>
          <p:cNvSpPr/>
          <p:nvPr/>
        </p:nvSpPr>
        <p:spPr>
          <a:xfrm>
            <a:off x="4640580" y="5230368"/>
            <a:ext cx="0" cy="393192"/>
          </a:xfrm>
          <a:prstGeom prst="line">
            <a:avLst/>
          </a:prstGeom>
          <a:noFill/>
          <a:ln w="25400">
            <a:solidFill>
              <a:srgbClr val="0E7C86"/>
            </a:solidFill>
            <a:prstDash val="solid"/>
            <a:headEnd type="triangle"/>
          </a:ln>
        </p:spPr>
      </p:sp>
      <p:sp>
        <p:nvSpPr>
          <p:cNvPr id="30" name="Text 24"/>
          <p:cNvSpPr txBox="1"/>
          <p:nvPr/>
        </p:nvSpPr>
        <p:spPr>
          <a:xfrm>
            <a:off x="5189220" y="5678424"/>
            <a:ext cx="4572000" cy="274320"/>
          </a:xfrm>
          <a:prstGeom prst="rect">
            <a:avLst/>
          </a:prstGeom>
          <a:noFill/>
          <a:ln/>
        </p:spPr>
        <p:txBody>
          <a:bodyPr wrap="square" lIns="0" tIns="0" rIns="0" bIns="0" rtlCol="0" anchor="t"/>
          <a:lstStyle/>
          <a:p>
            <a:pPr algn="ctr" indent="0" marL="0">
              <a:buNone/>
            </a:pPr>
            <a:r>
              <a:rPr lang="en-US" sz="1200" b="1" dirty="0">
                <a:solidFill>
                  <a:schemeClr val="accent2"/>
                </a:solidFill>
              </a:rPr>
              <a:t>Every fix feeds back into the next forecast</a:t>
            </a:r>
            <a:endParaRPr lang="en-US" sz="12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3"/>
                </a:solidFill>
              </a:rPr>
              <a:t>6  ·  IMPACT  ·  DEMO CAMPUS, SIMULATED DATA</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Fewer follow-ups, fewer emergencies, lower costs</a:t>
            </a:r>
            <a:endParaRPr lang="en-US" sz="3200" dirty="0"/>
          </a:p>
        </p:txBody>
      </p:sp>
      <p:sp>
        <p:nvSpPr>
          <p:cNvPr id="4" name="Cost chart card"/>
          <p:cNvSpPr/>
          <p:nvPr/>
        </p:nvSpPr>
        <p:spPr>
          <a:xfrm>
            <a:off x="548640" y="1783080"/>
            <a:ext cx="5760720" cy="3931920"/>
          </a:xfrm>
          <a:prstGeom prst="roundRect">
            <a:avLst>
              <a:gd name="adj" fmla="val 2791"/>
            </a:avLst>
          </a:prstGeom>
          <a:solidFill>
            <a:schemeClr val="bg1"/>
          </a:solidFill>
          <a:ln w="12700">
            <a:solidFill>
              <a:schemeClr val="bg1"/>
            </a:solidFill>
            <a:prstDash val="solid"/>
          </a:ln>
        </p:spPr>
      </p:sp>
      <p:graphicFrame>
        <p:nvGraphicFramePr>
          <p:cNvPr id="5" name="Chart 0" descr=""/>
          <p:cNvGraphicFramePr/>
          <p:nvPr/>
        </p:nvGraphicFramePr>
        <p:xfrm>
          <a:off x="731520" y="1920240"/>
          <a:ext cx="539496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766560" y="1783080"/>
            <a:ext cx="4846320" cy="548640"/>
          </a:xfrm>
          <a:prstGeom prst="rect">
            <a:avLst/>
          </a:prstGeom>
          <a:noFill/>
          <a:ln/>
        </p:spPr>
        <p:txBody>
          <a:bodyPr wrap="square" lIns="0" tIns="0" rIns="0" bIns="0" rtlCol="0" anchor="t"/>
          <a:lstStyle/>
          <a:p>
            <a:pPr indent="0" marL="0">
              <a:buNone/>
            </a:pPr>
            <a:r>
              <a:rPr lang="en-US" sz="3000" b="1" dirty="0">
                <a:solidFill>
                  <a:schemeClr val="accent3"/>
                </a:solidFill>
              </a:rPr>
              <a:t>Residents</a:t>
            </a:r>
            <a:endParaRPr lang="en-US" sz="3000" dirty="0"/>
          </a:p>
        </p:txBody>
      </p:sp>
      <p:sp>
        <p:nvSpPr>
          <p:cNvPr id="7" name="Text 4"/>
          <p:cNvSpPr txBox="1"/>
          <p:nvPr/>
        </p:nvSpPr>
        <p:spPr>
          <a:xfrm>
            <a:off x="6766560" y="2331720"/>
            <a:ext cx="4846320" cy="731520"/>
          </a:xfrm>
          <a:prstGeom prst="rect">
            <a:avLst/>
          </a:prstGeom>
          <a:noFill/>
          <a:ln/>
        </p:spPr>
        <p:txBody>
          <a:bodyPr wrap="square" lIns="0" tIns="0" rIns="0" bIns="0" rtlCol="0" anchor="t"/>
          <a:lstStyle/>
          <a:p>
            <a:pPr indent="0" marL="0">
              <a:buNone/>
            </a:pPr>
            <a:r>
              <a:rPr lang="en-US" sz="1500" dirty="0">
                <a:solidFill>
                  <a:schemeClr val="bg1"/>
                </a:solidFill>
              </a:rPr>
              <a:t>Report once, updated at every step. No chasing.</a:t>
            </a:r>
            <a:endParaRPr lang="en-US" sz="1500" dirty="0"/>
          </a:p>
        </p:txBody>
      </p:sp>
      <p:sp>
        <p:nvSpPr>
          <p:cNvPr id="8" name="Text 5"/>
          <p:cNvSpPr txBox="1"/>
          <p:nvPr/>
        </p:nvSpPr>
        <p:spPr>
          <a:xfrm>
            <a:off x="6766560" y="3108960"/>
            <a:ext cx="4846320" cy="548640"/>
          </a:xfrm>
          <a:prstGeom prst="rect">
            <a:avLst/>
          </a:prstGeom>
          <a:noFill/>
          <a:ln/>
        </p:spPr>
        <p:txBody>
          <a:bodyPr wrap="square" lIns="0" tIns="0" rIns="0" bIns="0" rtlCol="0" anchor="t"/>
          <a:lstStyle/>
          <a:p>
            <a:pPr indent="0" marL="0">
              <a:buNone/>
            </a:pPr>
            <a:r>
              <a:rPr lang="en-US" sz="3000" b="1" dirty="0">
                <a:solidFill>
                  <a:schemeClr val="accent3"/>
                </a:solidFill>
              </a:rPr>
              <a:t>SDP</a:t>
            </a:r>
            <a:endParaRPr lang="en-US" sz="3000" dirty="0"/>
          </a:p>
        </p:txBody>
      </p:sp>
      <p:sp>
        <p:nvSpPr>
          <p:cNvPr id="9" name="Text 6"/>
          <p:cNvSpPr txBox="1"/>
          <p:nvPr/>
        </p:nvSpPr>
        <p:spPr>
          <a:xfrm>
            <a:off x="6766560" y="3657600"/>
            <a:ext cx="4846320" cy="731520"/>
          </a:xfrm>
          <a:prstGeom prst="rect">
            <a:avLst/>
          </a:prstGeom>
          <a:noFill/>
          <a:ln/>
        </p:spPr>
        <p:txBody>
          <a:bodyPr wrap="square" lIns="0" tIns="0" rIns="0" bIns="0" rtlCol="0" anchor="t"/>
          <a:lstStyle/>
          <a:p>
            <a:pPr indent="0" marL="0">
              <a:buNone/>
            </a:pPr>
            <a:r>
              <a:rPr lang="en-US" sz="1500" dirty="0">
                <a:solidFill>
                  <a:schemeClr val="bg1"/>
                </a:solidFill>
              </a:rPr>
              <a:t>5 of 12 cases raised before anyone complained; planned repairs, not emergencies.</a:t>
            </a:r>
            <a:endParaRPr lang="en-US" sz="1500" dirty="0"/>
          </a:p>
        </p:txBody>
      </p:sp>
      <p:sp>
        <p:nvSpPr>
          <p:cNvPr id="10" name="Text 7"/>
          <p:cNvSpPr txBox="1"/>
          <p:nvPr/>
        </p:nvSpPr>
        <p:spPr>
          <a:xfrm>
            <a:off x="6766560" y="4434840"/>
            <a:ext cx="4846320" cy="548640"/>
          </a:xfrm>
          <a:prstGeom prst="rect">
            <a:avLst/>
          </a:prstGeom>
          <a:noFill/>
          <a:ln/>
        </p:spPr>
        <p:txBody>
          <a:bodyPr wrap="square" lIns="0" tIns="0" rIns="0" bIns="0" rtlCol="0" anchor="t"/>
          <a:lstStyle/>
          <a:p>
            <a:pPr indent="0" marL="0">
              <a:buNone/>
            </a:pPr>
            <a:r>
              <a:rPr lang="en-US" sz="3000" b="1" dirty="0">
                <a:solidFill>
                  <a:schemeClr val="accent3"/>
                </a:solidFill>
              </a:rPr>
              <a:t>Planet</a:t>
            </a:r>
            <a:endParaRPr lang="en-US" sz="3000" dirty="0"/>
          </a:p>
        </p:txBody>
      </p:sp>
      <p:sp>
        <p:nvSpPr>
          <p:cNvPr id="11" name="Text 8"/>
          <p:cNvSpPr txBox="1"/>
          <p:nvPr/>
        </p:nvSpPr>
        <p:spPr>
          <a:xfrm>
            <a:off x="6766560" y="4983480"/>
            <a:ext cx="4846320" cy="731520"/>
          </a:xfrm>
          <a:prstGeom prst="rect">
            <a:avLst/>
          </a:prstGeom>
          <a:noFill/>
          <a:ln/>
        </p:spPr>
        <p:txBody>
          <a:bodyPr wrap="square" lIns="0" tIns="0" rIns="0" bIns="0" rtlCol="0" anchor="t"/>
          <a:lstStyle/>
          <a:p>
            <a:pPr indent="0" marL="0">
              <a:buNone/>
            </a:pPr>
            <a:r>
              <a:rPr lang="en-US" sz="1500" dirty="0">
                <a:solidFill>
                  <a:schemeClr val="bg1"/>
                </a:solidFill>
              </a:rPr>
              <a:t>Replace-or-upgrade advice saves RM 193k and 225 t CO₂e a year.</a:t>
            </a:r>
            <a:endParaRPr lang="en-US" sz="1500" dirty="0"/>
          </a:p>
        </p:txBody>
      </p:sp>
      <p:sp>
        <p:nvSpPr>
          <p:cNvPr id="12" name="Text 9"/>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100" dirty="0">
                <a:solidFill>
                  <a:srgbClr val="C9D3EA"/>
                </a:solidFill>
              </a:rPr>
              <a:t>Simulated Ara Damansara data and stated assumptions. A pilot replaces them with real numbers.</a:t>
            </a:r>
            <a:endParaRPr lang="en-US" sz="11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C9D3E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1"/>
                </a:solidFill>
              </a:rPr>
              <a:t>7  ·  FEASIBILITY</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tx2"/>
                </a:solidFill>
              </a:rPr>
              <a:t>Realistic to run: built today, on data SDP already has</a:t>
            </a:r>
            <a:endParaRPr lang="en-US" sz="3200" dirty="0"/>
          </a:p>
        </p:txBody>
      </p:sp>
      <p:sp>
        <p:nvSpPr>
          <p:cNvPr id="4" name="Text 2"/>
          <p:cNvSpPr txBox="1"/>
          <p:nvPr/>
        </p:nvSpPr>
        <p:spPr>
          <a:xfrm>
            <a:off x="548640" y="1783080"/>
            <a:ext cx="493776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ALREADY BUILT</a:t>
            </a:r>
            <a:endParaRPr lang="en-US" sz="1200" dirty="0"/>
          </a:p>
        </p:txBody>
      </p:sp>
      <p:pic>
        <p:nvPicPr>
          <p:cNvPr id="5" name="Image 0" descr="C:\Users\faiqs\AppData\Local\Temp\claude\C--Users-faiqs-Desktop-SIME-DARBY\1db49c24-6d29-4c60-bea1-a1554db1f55f\scratchpad\deck\img\ict-check.png">    </p:cNvPr>
          <p:cNvPicPr>
            <a:picLocks noChangeAspect="1"/>
          </p:cNvPicPr>
          <p:nvPr/>
        </p:nvPicPr>
        <p:blipFill>
          <a:blip r:embed="rId1"/>
          <a:stretch>
            <a:fillRect/>
          </a:stretch>
        </p:blipFill>
        <p:spPr>
          <a:xfrm>
            <a:off x="548640" y="2148840"/>
            <a:ext cx="384048" cy="384048"/>
          </a:xfrm>
          <a:prstGeom prst="rect">
            <a:avLst/>
          </a:prstGeom>
        </p:spPr>
      </p:pic>
      <p:sp>
        <p:nvSpPr>
          <p:cNvPr id="6" name="Text 3"/>
          <p:cNvSpPr txBox="1"/>
          <p:nvPr/>
        </p:nvSpPr>
        <p:spPr>
          <a:xfrm>
            <a:off x="1097280" y="2148840"/>
            <a:ext cx="4434840" cy="457200"/>
          </a:xfrm>
          <a:prstGeom prst="rect">
            <a:avLst/>
          </a:prstGeom>
          <a:noFill/>
          <a:ln/>
        </p:spPr>
        <p:txBody>
          <a:bodyPr wrap="square" lIns="0" tIns="0" rIns="0" bIns="0" rtlCol="0" anchor="ctr"/>
          <a:lstStyle/>
          <a:p>
            <a:pPr indent="0" marL="0">
              <a:buNone/>
            </a:pPr>
            <a:r>
              <a:rPr lang="en-US" sz="1500" dirty="0">
                <a:solidFill>
                  <a:schemeClr val="tx1"/>
                </a:solidFill>
              </a:rPr>
              <a:t>Working prototype: 3D map, cases, forecasts</a:t>
            </a:r>
            <a:endParaRPr lang="en-US" sz="1500" dirty="0"/>
          </a:p>
        </p:txBody>
      </p:sp>
      <p:pic>
        <p:nvPicPr>
          <p:cNvPr id="7" name="Image 1" descr="C:\Users\faiqs\AppData\Local\Temp\claude\C--Users-faiqs-Desktop-SIME-DARBY\1db49c24-6d29-4c60-bea1-a1554db1f55f\scratchpad\deck\img\ict-check.png">    </p:cNvPr>
          <p:cNvPicPr>
            <a:picLocks noChangeAspect="1"/>
          </p:cNvPicPr>
          <p:nvPr/>
        </p:nvPicPr>
        <p:blipFill>
          <a:blip r:embed="rId2"/>
          <a:stretch>
            <a:fillRect/>
          </a:stretch>
        </p:blipFill>
        <p:spPr>
          <a:xfrm>
            <a:off x="548640" y="2752344"/>
            <a:ext cx="384048" cy="384048"/>
          </a:xfrm>
          <a:prstGeom prst="rect">
            <a:avLst/>
          </a:prstGeom>
        </p:spPr>
      </p:pic>
      <p:sp>
        <p:nvSpPr>
          <p:cNvPr id="8" name="Text 4"/>
          <p:cNvSpPr txBox="1"/>
          <p:nvPr/>
        </p:nvSpPr>
        <p:spPr>
          <a:xfrm>
            <a:off x="1097280" y="2752344"/>
            <a:ext cx="4434840" cy="457200"/>
          </a:xfrm>
          <a:prstGeom prst="rect">
            <a:avLst/>
          </a:prstGeom>
          <a:noFill/>
          <a:ln/>
        </p:spPr>
        <p:txBody>
          <a:bodyPr wrap="square" lIns="0" tIns="0" rIns="0" bIns="0" rtlCol="0" anchor="ctr"/>
          <a:lstStyle/>
          <a:p>
            <a:pPr indent="0" marL="0">
              <a:buNone/>
            </a:pPr>
            <a:r>
              <a:rPr lang="en-US" sz="1500" dirty="0">
                <a:solidFill>
                  <a:schemeClr val="tx1"/>
                </a:solidFill>
              </a:rPr>
              <a:t>481 assets, roles for managers and engineers</a:t>
            </a:r>
            <a:endParaRPr lang="en-US" sz="1500" dirty="0"/>
          </a:p>
        </p:txBody>
      </p:sp>
      <p:pic>
        <p:nvPicPr>
          <p:cNvPr id="9" name="Image 2" descr="C:\Users\faiqs\AppData\Local\Temp\claude\C--Users-faiqs-Desktop-SIME-DARBY\1db49c24-6d29-4c60-bea1-a1554db1f55f\scratchpad\deck\img\ict-check.png">    </p:cNvPr>
          <p:cNvPicPr>
            <a:picLocks noChangeAspect="1"/>
          </p:cNvPicPr>
          <p:nvPr/>
        </p:nvPicPr>
        <p:blipFill>
          <a:blip r:embed="rId3"/>
          <a:stretch>
            <a:fillRect/>
          </a:stretch>
        </p:blipFill>
        <p:spPr>
          <a:xfrm>
            <a:off x="548640" y="3355848"/>
            <a:ext cx="384048" cy="384048"/>
          </a:xfrm>
          <a:prstGeom prst="rect">
            <a:avLst/>
          </a:prstGeom>
        </p:spPr>
      </p:pic>
      <p:sp>
        <p:nvSpPr>
          <p:cNvPr id="10" name="Text 5"/>
          <p:cNvSpPr txBox="1"/>
          <p:nvPr/>
        </p:nvSpPr>
        <p:spPr>
          <a:xfrm>
            <a:off x="1097280" y="3355848"/>
            <a:ext cx="4434840" cy="457200"/>
          </a:xfrm>
          <a:prstGeom prst="rect">
            <a:avLst/>
          </a:prstGeom>
          <a:noFill/>
          <a:ln/>
        </p:spPr>
        <p:txBody>
          <a:bodyPr wrap="square" lIns="0" tIns="0" rIns="0" bIns="0" rtlCol="0" anchor="ctr"/>
          <a:lstStyle/>
          <a:p>
            <a:pPr indent="0" marL="0">
              <a:buNone/>
            </a:pPr>
            <a:r>
              <a:rPr lang="en-US" sz="1500" dirty="0">
                <a:solidFill>
                  <a:schemeClr val="tx1"/>
                </a:solidFill>
              </a:rPr>
              <a:t>Guest reporting in English and Bahasa Malaysia</a:t>
            </a:r>
            <a:endParaRPr lang="en-US" sz="1500" dirty="0"/>
          </a:p>
        </p:txBody>
      </p:sp>
      <p:pic>
        <p:nvPicPr>
          <p:cNvPr id="11" name="Image 3" descr="C:\Users\faiqs\AppData\Local\Temp\claude\C--Users-faiqs-Desktop-SIME-DARBY\1db49c24-6d29-4c60-bea1-a1554db1f55f\scratchpad\deck\img\ict-check.png">    </p:cNvPr>
          <p:cNvPicPr>
            <a:picLocks noChangeAspect="1"/>
          </p:cNvPicPr>
          <p:nvPr/>
        </p:nvPicPr>
        <p:blipFill>
          <a:blip r:embed="rId4"/>
          <a:stretch>
            <a:fillRect/>
          </a:stretch>
        </p:blipFill>
        <p:spPr>
          <a:xfrm>
            <a:off x="548640" y="3959352"/>
            <a:ext cx="384048" cy="384048"/>
          </a:xfrm>
          <a:prstGeom prst="rect">
            <a:avLst/>
          </a:prstGeom>
        </p:spPr>
      </p:pic>
      <p:sp>
        <p:nvSpPr>
          <p:cNvPr id="12" name="Text 6"/>
          <p:cNvSpPr txBox="1"/>
          <p:nvPr/>
        </p:nvSpPr>
        <p:spPr>
          <a:xfrm>
            <a:off x="1097280" y="3959352"/>
            <a:ext cx="4434840" cy="457200"/>
          </a:xfrm>
          <a:prstGeom prst="rect">
            <a:avLst/>
          </a:prstGeom>
          <a:noFill/>
          <a:ln/>
        </p:spPr>
        <p:txBody>
          <a:bodyPr wrap="square" lIns="0" tIns="0" rIns="0" bIns="0" rtlCol="0" anchor="ctr"/>
          <a:lstStyle/>
          <a:p>
            <a:pPr indent="0" marL="0">
              <a:buNone/>
            </a:pPr>
            <a:r>
              <a:rPr lang="en-US" sz="1500" dirty="0">
                <a:solidFill>
                  <a:schemeClr val="tx1"/>
                </a:solidFill>
              </a:rPr>
              <a:t>60 automated tests; runs in any browser</a:t>
            </a:r>
            <a:endParaRPr lang="en-US" sz="1500" dirty="0"/>
          </a:p>
        </p:txBody>
      </p:sp>
      <p:sp>
        <p:nvSpPr>
          <p:cNvPr id="13" name="Cost estimate"/>
          <p:cNvSpPr/>
          <p:nvPr/>
        </p:nvSpPr>
        <p:spPr>
          <a:xfrm>
            <a:off x="548640" y="4709160"/>
            <a:ext cx="4983480" cy="1325880"/>
          </a:xfrm>
          <a:prstGeom prst="roundRect">
            <a:avLst>
              <a:gd name="adj" fmla="val 8276"/>
            </a:avLst>
          </a:prstGeom>
          <a:solidFill>
            <a:schemeClr val="tx2"/>
          </a:solidFill>
          <a:ln w="12700">
            <a:solidFill>
              <a:schemeClr val="tx2"/>
            </a:solidFill>
            <a:prstDash val="solid"/>
          </a:ln>
        </p:spPr>
      </p:sp>
      <p:sp>
        <p:nvSpPr>
          <p:cNvPr id="14" name="Text 8"/>
          <p:cNvSpPr txBox="1"/>
          <p:nvPr/>
        </p:nvSpPr>
        <p:spPr>
          <a:xfrm>
            <a:off x="777240" y="4846320"/>
            <a:ext cx="45720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ESTIMATED COST</a:t>
            </a:r>
            <a:endParaRPr lang="en-US" sz="1200" dirty="0"/>
          </a:p>
        </p:txBody>
      </p:sp>
      <p:sp>
        <p:nvSpPr>
          <p:cNvPr id="15" name="Text 9"/>
          <p:cNvSpPr txBox="1"/>
          <p:nvPr/>
        </p:nvSpPr>
        <p:spPr>
          <a:xfrm>
            <a:off x="777240" y="5120640"/>
            <a:ext cx="4617720" cy="868680"/>
          </a:xfrm>
          <a:prstGeom prst="rect">
            <a:avLst/>
          </a:prstGeom>
          <a:noFill/>
          <a:ln/>
        </p:spPr>
        <p:txBody>
          <a:bodyPr wrap="square" lIns="0" tIns="0" rIns="0" bIns="0" rtlCol="0" anchor="t"/>
          <a:lstStyle/>
          <a:p>
            <a:pPr indent="0" marL="0">
              <a:buNone/>
            </a:pPr>
            <a:r>
              <a:rPr lang="en-US" sz="2200" b="1" dirty="0">
                <a:solidFill>
                  <a:schemeClr val="bg1"/>
                </a:solidFill>
              </a:rPr>
              <a:t>RM 51k </a:t>
            </a:r>
            <a:pPr indent="0" marL="0">
              <a:buNone/>
            </a:pPr>
            <a:r>
              <a:rPr lang="en-US" sz="1300" dirty="0">
                <a:solidFill>
                  <a:srgbClr val="C9D3EA"/>
                </a:solidFill>
              </a:rPr>
              <a:t>3-month pilot</a:t>
            </a:r>
            <a:endParaRPr lang="en-US" sz="1300" dirty="0"/>
          </a:p>
          <a:p>
            <a:pPr indent="0" marL="0">
              <a:buNone/>
            </a:pPr>
            <a:r>
              <a:rPr lang="en-US" sz="2200" b="1" dirty="0">
                <a:solidFill>
                  <a:schemeClr val="bg1"/>
                </a:solidFill>
              </a:rPr>
              <a:t>RM 42k </a:t>
            </a:r>
            <a:pPr indent="0" marL="0">
              <a:buNone/>
            </a:pPr>
            <a:r>
              <a:rPr lang="en-US" sz="1300" dirty="0">
                <a:solidFill>
                  <a:srgbClr val="C9D3EA"/>
                </a:solidFill>
              </a:rPr>
              <a:t>a year per township, after the pilot</a:t>
            </a:r>
            <a:endParaRPr lang="en-US" sz="1300" dirty="0"/>
          </a:p>
        </p:txBody>
      </p:sp>
      <p:sp>
        <p:nvSpPr>
          <p:cNvPr id="16" name="Resources card"/>
          <p:cNvSpPr/>
          <p:nvPr/>
        </p:nvSpPr>
        <p:spPr>
          <a:xfrm>
            <a:off x="5852160" y="1783080"/>
            <a:ext cx="5760720" cy="1325880"/>
          </a:xfrm>
          <a:prstGeom prst="roundRect">
            <a:avLst>
              <a:gd name="adj" fmla="val 8276"/>
            </a:avLst>
          </a:prstGeom>
          <a:solidFill>
            <a:schemeClr val="bg2"/>
          </a:solidFill>
          <a:ln w="12700">
            <a:solidFill>
              <a:schemeClr val="bg2"/>
            </a:solidFill>
            <a:prstDash val="solid"/>
          </a:ln>
        </p:spPr>
      </p:sp>
      <p:pic>
        <p:nvPicPr>
          <p:cNvPr id="17" name="Image 4" descr="C:\Users\faiqs\AppData\Local\Temp\claude\C--Users-faiqs-Desktop-SIME-DARBY\1db49c24-6d29-4c60-bea1-a1554db1f55f\scratchpad\deck\img\ic-database.png">    </p:cNvPr>
          <p:cNvPicPr>
            <a:picLocks noChangeAspect="1"/>
          </p:cNvPicPr>
          <p:nvPr/>
        </p:nvPicPr>
        <p:blipFill>
          <a:blip r:embed="rId5"/>
          <a:stretch>
            <a:fillRect/>
          </a:stretch>
        </p:blipFill>
        <p:spPr>
          <a:xfrm>
            <a:off x="6080760" y="2011680"/>
            <a:ext cx="502920" cy="502920"/>
          </a:xfrm>
          <a:prstGeom prst="rect">
            <a:avLst/>
          </a:prstGeom>
        </p:spPr>
      </p:pic>
      <p:sp>
        <p:nvSpPr>
          <p:cNvPr id="18" name="Text 11"/>
          <p:cNvSpPr txBox="1"/>
          <p:nvPr/>
        </p:nvSpPr>
        <p:spPr>
          <a:xfrm>
            <a:off x="6812280" y="1965960"/>
            <a:ext cx="4617720" cy="329184"/>
          </a:xfrm>
          <a:prstGeom prst="rect">
            <a:avLst/>
          </a:prstGeom>
          <a:noFill/>
          <a:ln/>
        </p:spPr>
        <p:txBody>
          <a:bodyPr wrap="square" lIns="0" tIns="0" rIns="0" bIns="0" rtlCol="0" anchor="t"/>
          <a:lstStyle/>
          <a:p>
            <a:pPr indent="0" marL="0">
              <a:buNone/>
            </a:pPr>
            <a:r>
              <a:rPr lang="en-US" sz="1700" b="1" dirty="0">
                <a:solidFill>
                  <a:schemeClr val="tx2"/>
                </a:solidFill>
              </a:rPr>
              <a:t>Resources</a:t>
            </a:r>
            <a:endParaRPr lang="en-US" sz="1700" dirty="0"/>
          </a:p>
        </p:txBody>
      </p:sp>
      <p:sp>
        <p:nvSpPr>
          <p:cNvPr id="19" name="Text 12"/>
          <p:cNvSpPr txBox="1"/>
          <p:nvPr/>
        </p:nvSpPr>
        <p:spPr>
          <a:xfrm>
            <a:off x="6812280" y="2295144"/>
            <a:ext cx="4617720" cy="749808"/>
          </a:xfrm>
          <a:prstGeom prst="rect">
            <a:avLst/>
          </a:prstGeom>
          <a:noFill/>
          <a:ln/>
        </p:spPr>
        <p:txBody>
          <a:bodyPr wrap="square" lIns="0" tIns="0" rIns="0" bIns="0" rtlCol="0" anchor="t"/>
          <a:lstStyle/>
          <a:p>
            <a:pPr indent="0" marL="0">
              <a:buNone/>
            </a:pPr>
            <a:r>
              <a:rPr lang="en-US" sz="1400" dirty="0">
                <a:solidFill>
                  <a:schemeClr val="tx1"/>
                </a:solidFill>
              </a:rPr>
              <a:t>Data SDP already keeps, a facilities champion, cloud hosting. No new hardware.</a:t>
            </a:r>
            <a:endParaRPr lang="en-US" sz="1400" dirty="0"/>
          </a:p>
        </p:txBody>
      </p:sp>
      <p:sp>
        <p:nvSpPr>
          <p:cNvPr id="20" name="Stakeholders card"/>
          <p:cNvSpPr/>
          <p:nvPr/>
        </p:nvSpPr>
        <p:spPr>
          <a:xfrm>
            <a:off x="5852160" y="3246120"/>
            <a:ext cx="5760720" cy="1325880"/>
          </a:xfrm>
          <a:prstGeom prst="roundRect">
            <a:avLst>
              <a:gd name="adj" fmla="val 8276"/>
            </a:avLst>
          </a:prstGeom>
          <a:solidFill>
            <a:schemeClr val="bg2"/>
          </a:solidFill>
          <a:ln w="12700">
            <a:solidFill>
              <a:schemeClr val="bg2"/>
            </a:solidFill>
            <a:prstDash val="solid"/>
          </a:ln>
        </p:spPr>
      </p:sp>
      <p:pic>
        <p:nvPicPr>
          <p:cNvPr id="21" name="Image 5" descr="C:\Users\faiqs\AppData\Local\Temp\claude\C--Users-faiqs-Desktop-SIME-DARBY\1db49c24-6d29-4c60-bea1-a1554db1f55f\scratchpad\deck\img\ic-handshake.png">    </p:cNvPr>
          <p:cNvPicPr>
            <a:picLocks noChangeAspect="1"/>
          </p:cNvPicPr>
          <p:nvPr/>
        </p:nvPicPr>
        <p:blipFill>
          <a:blip r:embed="rId6"/>
          <a:stretch>
            <a:fillRect/>
          </a:stretch>
        </p:blipFill>
        <p:spPr>
          <a:xfrm>
            <a:off x="6080760" y="3474720"/>
            <a:ext cx="502920" cy="502920"/>
          </a:xfrm>
          <a:prstGeom prst="rect">
            <a:avLst/>
          </a:prstGeom>
        </p:spPr>
      </p:pic>
      <p:sp>
        <p:nvSpPr>
          <p:cNvPr id="22" name="Text 14"/>
          <p:cNvSpPr txBox="1"/>
          <p:nvPr/>
        </p:nvSpPr>
        <p:spPr>
          <a:xfrm>
            <a:off x="6812280" y="3429000"/>
            <a:ext cx="4617720" cy="329184"/>
          </a:xfrm>
          <a:prstGeom prst="rect">
            <a:avLst/>
          </a:prstGeom>
          <a:noFill/>
          <a:ln/>
        </p:spPr>
        <p:txBody>
          <a:bodyPr wrap="square" lIns="0" tIns="0" rIns="0" bIns="0" rtlCol="0" anchor="t"/>
          <a:lstStyle/>
          <a:p>
            <a:pPr indent="0" marL="0">
              <a:buNone/>
            </a:pPr>
            <a:r>
              <a:rPr lang="en-US" sz="1700" b="1" dirty="0">
                <a:solidFill>
                  <a:schemeClr val="tx2"/>
                </a:solidFill>
              </a:rPr>
              <a:t>Stakeholders</a:t>
            </a:r>
            <a:endParaRPr lang="en-US" sz="1700" dirty="0"/>
          </a:p>
        </p:txBody>
      </p:sp>
      <p:sp>
        <p:nvSpPr>
          <p:cNvPr id="23" name="Text 15"/>
          <p:cNvSpPr txBox="1"/>
          <p:nvPr/>
        </p:nvSpPr>
        <p:spPr>
          <a:xfrm>
            <a:off x="6812280" y="3758184"/>
            <a:ext cx="4617720" cy="749808"/>
          </a:xfrm>
          <a:prstGeom prst="rect">
            <a:avLst/>
          </a:prstGeom>
          <a:noFill/>
          <a:ln/>
        </p:spPr>
        <p:txBody>
          <a:bodyPr wrap="square" lIns="0" tIns="0" rIns="0" bIns="0" rtlCol="0" anchor="t"/>
          <a:lstStyle/>
          <a:p>
            <a:pPr indent="0" marL="0">
              <a:buNone/>
            </a:pPr>
            <a:r>
              <a:rPr lang="en-US" sz="1400" dirty="0">
                <a:solidFill>
                  <a:schemeClr val="tx1"/>
                </a:solidFill>
              </a:rPr>
              <a:t>SDP Township Management and Building Facilities, the council, contractors, vendors and residents.</a:t>
            </a:r>
            <a:endParaRPr lang="en-US" sz="1400" dirty="0"/>
          </a:p>
        </p:txBody>
      </p:sp>
      <p:sp>
        <p:nvSpPr>
          <p:cNvPr id="24" name="Deployment card"/>
          <p:cNvSpPr/>
          <p:nvPr/>
        </p:nvSpPr>
        <p:spPr>
          <a:xfrm>
            <a:off x="5852160" y="4709160"/>
            <a:ext cx="5760720" cy="1325880"/>
          </a:xfrm>
          <a:prstGeom prst="roundRect">
            <a:avLst>
              <a:gd name="adj" fmla="val 8276"/>
            </a:avLst>
          </a:prstGeom>
          <a:solidFill>
            <a:schemeClr val="bg2"/>
          </a:solidFill>
          <a:ln w="12700">
            <a:solidFill>
              <a:schemeClr val="bg2"/>
            </a:solidFill>
            <a:prstDash val="solid"/>
          </a:ln>
        </p:spPr>
      </p:sp>
      <p:pic>
        <p:nvPicPr>
          <p:cNvPr id="25" name="Image 6" descr="C:\Users\faiqs\AppData\Local\Temp\claude\C--Users-faiqs-Desktop-SIME-DARBY\1db49c24-6d29-4c60-bea1-a1554db1f55f\scratchpad\deck\img\ic-rocket.png">    </p:cNvPr>
          <p:cNvPicPr>
            <a:picLocks noChangeAspect="1"/>
          </p:cNvPicPr>
          <p:nvPr/>
        </p:nvPicPr>
        <p:blipFill>
          <a:blip r:embed="rId7"/>
          <a:stretch>
            <a:fillRect/>
          </a:stretch>
        </p:blipFill>
        <p:spPr>
          <a:xfrm>
            <a:off x="6080760" y="4937760"/>
            <a:ext cx="502920" cy="502920"/>
          </a:xfrm>
          <a:prstGeom prst="rect">
            <a:avLst/>
          </a:prstGeom>
        </p:spPr>
      </p:pic>
      <p:sp>
        <p:nvSpPr>
          <p:cNvPr id="26" name="Text 17"/>
          <p:cNvSpPr txBox="1"/>
          <p:nvPr/>
        </p:nvSpPr>
        <p:spPr>
          <a:xfrm>
            <a:off x="6812280" y="4892040"/>
            <a:ext cx="4617720" cy="329184"/>
          </a:xfrm>
          <a:prstGeom prst="rect">
            <a:avLst/>
          </a:prstGeom>
          <a:noFill/>
          <a:ln/>
        </p:spPr>
        <p:txBody>
          <a:bodyPr wrap="square" lIns="0" tIns="0" rIns="0" bIns="0" rtlCol="0" anchor="t"/>
          <a:lstStyle/>
          <a:p>
            <a:pPr indent="0" marL="0">
              <a:buNone/>
            </a:pPr>
            <a:r>
              <a:rPr lang="en-US" sz="1700" b="1" dirty="0">
                <a:solidFill>
                  <a:schemeClr val="tx2"/>
                </a:solidFill>
              </a:rPr>
              <a:t>Deployment</a:t>
            </a:r>
            <a:endParaRPr lang="en-US" sz="1700" dirty="0"/>
          </a:p>
        </p:txBody>
      </p:sp>
      <p:sp>
        <p:nvSpPr>
          <p:cNvPr id="27" name="Text 18"/>
          <p:cNvSpPr txBox="1"/>
          <p:nvPr/>
        </p:nvSpPr>
        <p:spPr>
          <a:xfrm>
            <a:off x="6812280" y="5221224"/>
            <a:ext cx="4617720" cy="749808"/>
          </a:xfrm>
          <a:prstGeom prst="rect">
            <a:avLst/>
          </a:prstGeom>
          <a:noFill/>
          <a:ln/>
        </p:spPr>
        <p:txBody>
          <a:bodyPr wrap="square" lIns="0" tIns="0" rIns="0" bIns="0" rtlCol="0" anchor="t"/>
          <a:lstStyle/>
          <a:p>
            <a:pPr indent="0" marL="0">
              <a:buNone/>
            </a:pPr>
            <a:r>
              <a:rPr lang="en-US" sz="1400" dirty="0">
                <a:solidFill>
                  <a:schemeClr val="tx1"/>
                </a:solidFill>
              </a:rPr>
              <a:t>Web app; SDP app reports through an integration; sensors optional. Subscription per township.</a:t>
            </a:r>
            <a:endParaRPr lang="en-US" sz="14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1"/>
                </a:solidFill>
              </a:rPr>
              <a:t>8  ·  IMPLEMENTATION</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tx2"/>
                </a:solidFill>
              </a:rPr>
              <a:t>Pilot, measure, then scale across SDP townships</a:t>
            </a:r>
            <a:endParaRPr lang="en-US" sz="3200" dirty="0"/>
          </a:p>
        </p:txBody>
      </p:sp>
      <p:sp>
        <p:nvSpPr>
          <p:cNvPr id="4" name="Pilot phase"/>
          <p:cNvSpPr/>
          <p:nvPr/>
        </p:nvSpPr>
        <p:spPr>
          <a:xfrm>
            <a:off x="548640" y="1783080"/>
            <a:ext cx="3474720" cy="2697480"/>
          </a:xfrm>
          <a:prstGeom prst="roundRect">
            <a:avLst>
              <a:gd name="adj" fmla="val 4068"/>
            </a:avLst>
          </a:prstGeom>
          <a:solidFill>
            <a:schemeClr val="bg2"/>
          </a:solidFill>
          <a:ln w="12700">
            <a:solidFill>
              <a:schemeClr val="bg2"/>
            </a:solidFill>
            <a:prstDash val="solid"/>
          </a:ln>
        </p:spPr>
      </p:sp>
      <p:sp>
        <p:nvSpPr>
          <p:cNvPr id="5" name="Shape 3"/>
          <p:cNvSpPr/>
          <p:nvPr/>
        </p:nvSpPr>
        <p:spPr>
          <a:xfrm>
            <a:off x="777240" y="2011680"/>
            <a:ext cx="457200" cy="457200"/>
          </a:xfrm>
          <a:prstGeom prst="ellipse">
            <a:avLst/>
          </a:prstGeom>
          <a:solidFill>
            <a:schemeClr val="accent1"/>
          </a:solidFill>
          <a:ln w="19050">
            <a:solidFill>
              <a:srgbClr val="FFFFFF"/>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371600" y="2011680"/>
            <a:ext cx="2468880" cy="457200"/>
          </a:xfrm>
          <a:prstGeom prst="rect">
            <a:avLst/>
          </a:prstGeom>
          <a:noFill/>
          <a:ln/>
        </p:spPr>
        <p:txBody>
          <a:bodyPr wrap="square" lIns="0" tIns="0" rIns="0" bIns="0" rtlCol="0" anchor="ctr"/>
          <a:lstStyle/>
          <a:p>
            <a:pPr indent="0" marL="0">
              <a:buNone/>
            </a:pPr>
            <a:r>
              <a:rPr lang="en-US" sz="2000" b="1" dirty="0">
                <a:solidFill>
                  <a:schemeClr val="tx2"/>
                </a:solidFill>
              </a:rPr>
              <a:t>Pilot</a:t>
            </a:r>
            <a:endParaRPr lang="en-US" sz="2000" dirty="0"/>
          </a:p>
        </p:txBody>
      </p:sp>
      <p:sp>
        <p:nvSpPr>
          <p:cNvPr id="8" name="Text 6"/>
          <p:cNvSpPr txBox="1"/>
          <p:nvPr/>
        </p:nvSpPr>
        <p:spPr>
          <a:xfrm>
            <a:off x="777240" y="2606040"/>
            <a:ext cx="3063240" cy="274320"/>
          </a:xfrm>
          <a:prstGeom prst="rect">
            <a:avLst/>
          </a:prstGeom>
          <a:noFill/>
          <a:ln/>
        </p:spPr>
        <p:txBody>
          <a:bodyPr wrap="square" lIns="0" tIns="0" rIns="0" bIns="0" rtlCol="0" anchor="t"/>
          <a:lstStyle/>
          <a:p>
            <a:pPr indent="0" marL="0">
              <a:buNone/>
            </a:pPr>
            <a:r>
              <a:rPr lang="en-US" sz="1300" b="1" dirty="0">
                <a:solidFill>
                  <a:schemeClr val="accent1"/>
                </a:solidFill>
              </a:rPr>
              <a:t>Months 0–3  ·  Ara Damansara</a:t>
            </a:r>
            <a:endParaRPr lang="en-US" sz="1300" dirty="0"/>
          </a:p>
        </p:txBody>
      </p:sp>
      <p:sp>
        <p:nvSpPr>
          <p:cNvPr id="9" name="Text 7"/>
          <p:cNvSpPr txBox="1"/>
          <p:nvPr/>
        </p:nvSpPr>
        <p:spPr>
          <a:xfrm>
            <a:off x="777240" y="2971800"/>
            <a:ext cx="306324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Load assets and 12 months of work orders</a:t>
            </a:r>
            <a:endParaRPr lang="en-US" sz="1400" dirty="0"/>
          </a:p>
          <a:p>
            <a:pPr marL="342900" indent="-342900">
              <a:spcAft>
                <a:spcPts val="500"/>
              </a:spcAft>
              <a:buSzPct val="100000"/>
              <a:buChar char="•"/>
            </a:pPr>
            <a:r>
              <a:rPr lang="en-US" sz="1400" dirty="0">
                <a:solidFill>
                  <a:schemeClr val="tx1"/>
                </a:solidFill>
              </a:rPr>
              <a:t>Connect SDP app reports</a:t>
            </a:r>
            <a:endParaRPr lang="en-US" sz="1400" dirty="0"/>
          </a:p>
          <a:p>
            <a:pPr marL="342900" indent="-342900">
              <a:spcAft>
                <a:spcPts val="500"/>
              </a:spcAft>
              <a:buSzPct val="100000"/>
              <a:buChar char="•"/>
            </a:pPr>
            <a:r>
              <a:rPr lang="en-US" sz="1400" dirty="0">
                <a:solidFill>
                  <a:schemeClr val="tx1"/>
                </a:solidFill>
              </a:rPr>
              <a:t>Train staff</a:t>
            </a:r>
            <a:endParaRPr lang="en-US" sz="1400" dirty="0"/>
          </a:p>
        </p:txBody>
      </p:sp>
      <p:sp>
        <p:nvSpPr>
          <p:cNvPr id="10" name="Shape 8"/>
          <p:cNvSpPr/>
          <p:nvPr/>
        </p:nvSpPr>
        <p:spPr>
          <a:xfrm>
            <a:off x="4078224" y="2926080"/>
            <a:ext cx="237744" cy="365760"/>
          </a:xfrm>
          <a:prstGeom prst="chevron">
            <a:avLst/>
          </a:prstGeom>
          <a:solidFill>
            <a:schemeClr val="accent1"/>
          </a:solidFill>
          <a:ln w="12700">
            <a:solidFill>
              <a:schemeClr val="accent1"/>
            </a:solidFill>
            <a:prstDash val="solid"/>
          </a:ln>
        </p:spPr>
      </p:sp>
      <p:sp>
        <p:nvSpPr>
          <p:cNvPr id="11" name="Scale phase"/>
          <p:cNvSpPr/>
          <p:nvPr/>
        </p:nvSpPr>
        <p:spPr>
          <a:xfrm>
            <a:off x="4325112" y="1783080"/>
            <a:ext cx="3474720" cy="2697480"/>
          </a:xfrm>
          <a:prstGeom prst="roundRect">
            <a:avLst>
              <a:gd name="adj" fmla="val 4068"/>
            </a:avLst>
          </a:prstGeom>
          <a:solidFill>
            <a:schemeClr val="bg2"/>
          </a:solidFill>
          <a:ln w="12700">
            <a:solidFill>
              <a:schemeClr val="bg2"/>
            </a:solidFill>
            <a:prstDash val="solid"/>
          </a:ln>
        </p:spPr>
      </p:sp>
      <p:sp>
        <p:nvSpPr>
          <p:cNvPr id="12" name="Shape 10"/>
          <p:cNvSpPr/>
          <p:nvPr/>
        </p:nvSpPr>
        <p:spPr>
          <a:xfrm>
            <a:off x="4553712" y="2011680"/>
            <a:ext cx="457200" cy="457200"/>
          </a:xfrm>
          <a:prstGeom prst="ellipse">
            <a:avLst/>
          </a:prstGeom>
          <a:solidFill>
            <a:schemeClr val="accent1"/>
          </a:solidFill>
          <a:ln w="19050">
            <a:solidFill>
              <a:srgbClr val="FFFFFF"/>
            </a:solidFill>
            <a:prstDash val="solid"/>
          </a:ln>
        </p:spPr>
      </p:sp>
      <p:sp>
        <p:nvSpPr>
          <p:cNvPr id="13" name="Text 11"/>
          <p:cNvSpPr txBox="1"/>
          <p:nvPr/>
        </p:nvSpPr>
        <p:spPr>
          <a:xfrm>
            <a:off x="4553712" y="2011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5148072" y="2011680"/>
            <a:ext cx="2468880" cy="457200"/>
          </a:xfrm>
          <a:prstGeom prst="rect">
            <a:avLst/>
          </a:prstGeom>
          <a:noFill/>
          <a:ln/>
        </p:spPr>
        <p:txBody>
          <a:bodyPr wrap="square" lIns="0" tIns="0" rIns="0" bIns="0" rtlCol="0" anchor="ctr"/>
          <a:lstStyle/>
          <a:p>
            <a:pPr indent="0" marL="0">
              <a:buNone/>
            </a:pPr>
            <a:r>
              <a:rPr lang="en-US" sz="2000" b="1" dirty="0">
                <a:solidFill>
                  <a:schemeClr val="tx2"/>
                </a:solidFill>
              </a:rPr>
              <a:t>Scale</a:t>
            </a:r>
            <a:endParaRPr lang="en-US" sz="2000" dirty="0"/>
          </a:p>
        </p:txBody>
      </p:sp>
      <p:sp>
        <p:nvSpPr>
          <p:cNvPr id="15" name="Text 13"/>
          <p:cNvSpPr txBox="1"/>
          <p:nvPr/>
        </p:nvSpPr>
        <p:spPr>
          <a:xfrm>
            <a:off x="4553712" y="2606040"/>
            <a:ext cx="3063240" cy="274320"/>
          </a:xfrm>
          <a:prstGeom prst="rect">
            <a:avLst/>
          </a:prstGeom>
          <a:noFill/>
          <a:ln/>
        </p:spPr>
        <p:txBody>
          <a:bodyPr wrap="square" lIns="0" tIns="0" rIns="0" bIns="0" rtlCol="0" anchor="t"/>
          <a:lstStyle/>
          <a:p>
            <a:pPr indent="0" marL="0">
              <a:buNone/>
            </a:pPr>
            <a:r>
              <a:rPr lang="en-US" sz="1300" b="1" dirty="0">
                <a:solidFill>
                  <a:schemeClr val="accent1"/>
                </a:solidFill>
              </a:rPr>
              <a:t>Months 3–9</a:t>
            </a:r>
            <a:endParaRPr lang="en-US" sz="1300" dirty="0"/>
          </a:p>
        </p:txBody>
      </p:sp>
      <p:sp>
        <p:nvSpPr>
          <p:cNvPr id="16" name="Text 14"/>
          <p:cNvSpPr txBox="1"/>
          <p:nvPr/>
        </p:nvSpPr>
        <p:spPr>
          <a:xfrm>
            <a:off x="4553712" y="2971800"/>
            <a:ext cx="306324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Live BMS and technician data</a:t>
            </a:r>
            <a:endParaRPr lang="en-US" sz="1400" dirty="0"/>
          </a:p>
          <a:p>
            <a:pPr marL="342900" indent="-342900">
              <a:spcAft>
                <a:spcPts val="500"/>
              </a:spcAft>
              <a:buSzPct val="100000"/>
              <a:buChar char="•"/>
            </a:pPr>
            <a:r>
              <a:rPr lang="en-US" sz="1400" dirty="0">
                <a:solidFill>
                  <a:schemeClr val="tx1"/>
                </a:solidFill>
              </a:rPr>
              <a:t>Model trained on real failures</a:t>
            </a:r>
            <a:endParaRPr lang="en-US" sz="1400" dirty="0"/>
          </a:p>
          <a:p>
            <a:pPr marL="342900" indent="-342900">
              <a:spcAft>
                <a:spcPts val="500"/>
              </a:spcAft>
              <a:buSzPct val="100000"/>
              <a:buChar char="•"/>
            </a:pPr>
            <a:r>
              <a:rPr lang="en-US" sz="1400" dirty="0">
                <a:solidFill>
                  <a:schemeClr val="tx1"/>
                </a:solidFill>
              </a:rPr>
              <a:t>Links to contractors and council</a:t>
            </a:r>
            <a:endParaRPr lang="en-US" sz="1400" dirty="0"/>
          </a:p>
        </p:txBody>
      </p:sp>
      <p:sp>
        <p:nvSpPr>
          <p:cNvPr id="17" name="Shape 15"/>
          <p:cNvSpPr/>
          <p:nvPr/>
        </p:nvSpPr>
        <p:spPr>
          <a:xfrm>
            <a:off x="7854696" y="2926080"/>
            <a:ext cx="237744" cy="365760"/>
          </a:xfrm>
          <a:prstGeom prst="chevron">
            <a:avLst/>
          </a:prstGeom>
          <a:solidFill>
            <a:schemeClr val="accent1"/>
          </a:solidFill>
          <a:ln w="12700">
            <a:solidFill>
              <a:schemeClr val="accent1"/>
            </a:solidFill>
            <a:prstDash val="solid"/>
          </a:ln>
        </p:spPr>
      </p:sp>
      <p:sp>
        <p:nvSpPr>
          <p:cNvPr id="18" name="Roll out phase"/>
          <p:cNvSpPr/>
          <p:nvPr/>
        </p:nvSpPr>
        <p:spPr>
          <a:xfrm>
            <a:off x="8101584" y="1783080"/>
            <a:ext cx="3474720" cy="2697480"/>
          </a:xfrm>
          <a:prstGeom prst="roundRect">
            <a:avLst>
              <a:gd name="adj" fmla="val 4068"/>
            </a:avLst>
          </a:prstGeom>
          <a:solidFill>
            <a:schemeClr val="bg2"/>
          </a:solidFill>
          <a:ln w="12700">
            <a:solidFill>
              <a:schemeClr val="bg2"/>
            </a:solidFill>
            <a:prstDash val="solid"/>
          </a:ln>
        </p:spPr>
      </p:sp>
      <p:sp>
        <p:nvSpPr>
          <p:cNvPr id="19" name="Shape 17"/>
          <p:cNvSpPr/>
          <p:nvPr/>
        </p:nvSpPr>
        <p:spPr>
          <a:xfrm>
            <a:off x="8330184" y="2011680"/>
            <a:ext cx="457200" cy="457200"/>
          </a:xfrm>
          <a:prstGeom prst="ellipse">
            <a:avLst/>
          </a:prstGeom>
          <a:solidFill>
            <a:schemeClr val="accent1"/>
          </a:solidFill>
          <a:ln w="19050">
            <a:solidFill>
              <a:srgbClr val="FFFFFF"/>
            </a:solidFill>
            <a:prstDash val="solid"/>
          </a:ln>
        </p:spPr>
      </p:sp>
      <p:sp>
        <p:nvSpPr>
          <p:cNvPr id="20" name="Text 18"/>
          <p:cNvSpPr txBox="1"/>
          <p:nvPr/>
        </p:nvSpPr>
        <p:spPr>
          <a:xfrm>
            <a:off x="8330184" y="2011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9"/>
          <p:cNvSpPr txBox="1"/>
          <p:nvPr/>
        </p:nvSpPr>
        <p:spPr>
          <a:xfrm>
            <a:off x="8924544" y="2011680"/>
            <a:ext cx="2468880" cy="457200"/>
          </a:xfrm>
          <a:prstGeom prst="rect">
            <a:avLst/>
          </a:prstGeom>
          <a:noFill/>
          <a:ln/>
        </p:spPr>
        <p:txBody>
          <a:bodyPr wrap="square" lIns="0" tIns="0" rIns="0" bIns="0" rtlCol="0" anchor="ctr"/>
          <a:lstStyle/>
          <a:p>
            <a:pPr indent="0" marL="0">
              <a:buNone/>
            </a:pPr>
            <a:r>
              <a:rPr lang="en-US" sz="2000" b="1" dirty="0">
                <a:solidFill>
                  <a:schemeClr val="tx2"/>
                </a:solidFill>
              </a:rPr>
              <a:t>Roll out</a:t>
            </a:r>
            <a:endParaRPr lang="en-US" sz="2000" dirty="0"/>
          </a:p>
        </p:txBody>
      </p:sp>
      <p:sp>
        <p:nvSpPr>
          <p:cNvPr id="22" name="Text 20"/>
          <p:cNvSpPr txBox="1"/>
          <p:nvPr/>
        </p:nvSpPr>
        <p:spPr>
          <a:xfrm>
            <a:off x="8330184" y="2606040"/>
            <a:ext cx="3063240" cy="274320"/>
          </a:xfrm>
          <a:prstGeom prst="rect">
            <a:avLst/>
          </a:prstGeom>
          <a:noFill/>
          <a:ln/>
        </p:spPr>
        <p:txBody>
          <a:bodyPr wrap="square" lIns="0" tIns="0" rIns="0" bIns="0" rtlCol="0" anchor="t"/>
          <a:lstStyle/>
          <a:p>
            <a:pPr indent="0" marL="0">
              <a:buNone/>
            </a:pPr>
            <a:r>
              <a:rPr lang="en-US" sz="1300" b="1" dirty="0">
                <a:solidFill>
                  <a:schemeClr val="accent1"/>
                </a:solidFill>
              </a:rPr>
              <a:t>Months 9–18</a:t>
            </a:r>
            <a:endParaRPr lang="en-US" sz="1300" dirty="0"/>
          </a:p>
        </p:txBody>
      </p:sp>
      <p:sp>
        <p:nvSpPr>
          <p:cNvPr id="23" name="Text 21"/>
          <p:cNvSpPr txBox="1"/>
          <p:nvPr/>
        </p:nvSpPr>
        <p:spPr>
          <a:xfrm>
            <a:off x="8330184" y="2971800"/>
            <a:ext cx="306324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City of Elmina, Bandar Bukit Raja, Serenia City</a:t>
            </a:r>
            <a:endParaRPr lang="en-US" sz="1400" dirty="0"/>
          </a:p>
          <a:p>
            <a:pPr marL="342900" indent="-342900">
              <a:spcAft>
                <a:spcPts val="500"/>
              </a:spcAft>
              <a:buSzPct val="100000"/>
              <a:buChar char="•"/>
            </a:pPr>
            <a:r>
              <a:rPr lang="en-US" sz="1400" dirty="0">
                <a:solidFill>
                  <a:schemeClr val="tx1"/>
                </a:solidFill>
              </a:rPr>
              <a:t>One routing table per state</a:t>
            </a:r>
            <a:endParaRPr lang="en-US" sz="1400" dirty="0"/>
          </a:p>
        </p:txBody>
      </p:sp>
      <p:sp>
        <p:nvSpPr>
          <p:cNvPr id="24" name="Text 22"/>
          <p:cNvSpPr txBox="1"/>
          <p:nvPr/>
        </p:nvSpPr>
        <p:spPr>
          <a:xfrm>
            <a:off x="548640" y="4709160"/>
            <a:ext cx="1106424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HOW WE MEASURE SUCCESS</a:t>
            </a:r>
            <a:endParaRPr lang="en-US" sz="1200" dirty="0"/>
          </a:p>
        </p:txBody>
      </p:sp>
      <p:sp>
        <p:nvSpPr>
          <p:cNvPr id="25" name="Follow-ups per case measure"/>
          <p:cNvSpPr/>
          <p:nvPr/>
        </p:nvSpPr>
        <p:spPr>
          <a:xfrm>
            <a:off x="548640" y="5074920"/>
            <a:ext cx="2615184" cy="960120"/>
          </a:xfrm>
          <a:prstGeom prst="roundRect">
            <a:avLst>
              <a:gd name="adj" fmla="val 11429"/>
            </a:avLst>
          </a:prstGeom>
          <a:solidFill>
            <a:schemeClr val="bg2"/>
          </a:solidFill>
          <a:ln w="12700">
            <a:solidFill>
              <a:schemeClr val="bg2"/>
            </a:solidFill>
            <a:prstDash val="solid"/>
          </a:ln>
        </p:spPr>
      </p:sp>
      <p:pic>
        <p:nvPicPr>
          <p:cNvPr id="26" name="Image 0" descr="C:\Users\faiqs\AppData\Local\Temp\claude\C--Users-faiqs-Desktop-SIME-DARBY\1db49c24-6d29-4c60-bea1-a1554db1f55f\scratchpad\deck\img\ict-message.png">    </p:cNvPr>
          <p:cNvPicPr>
            <a:picLocks noChangeAspect="1"/>
          </p:cNvPicPr>
          <p:nvPr/>
        </p:nvPicPr>
        <p:blipFill>
          <a:blip r:embed="rId1"/>
          <a:stretch>
            <a:fillRect/>
          </a:stretch>
        </p:blipFill>
        <p:spPr>
          <a:xfrm>
            <a:off x="731520" y="5285232"/>
            <a:ext cx="457200" cy="457200"/>
          </a:xfrm>
          <a:prstGeom prst="rect">
            <a:avLst/>
          </a:prstGeom>
        </p:spPr>
      </p:pic>
      <p:sp>
        <p:nvSpPr>
          <p:cNvPr id="27" name="Text 24"/>
          <p:cNvSpPr txBox="1"/>
          <p:nvPr/>
        </p:nvSpPr>
        <p:spPr>
          <a:xfrm>
            <a:off x="1325880" y="5074920"/>
            <a:ext cx="1737360" cy="960120"/>
          </a:xfrm>
          <a:prstGeom prst="rect">
            <a:avLst/>
          </a:prstGeom>
          <a:noFill/>
          <a:ln/>
        </p:spPr>
        <p:txBody>
          <a:bodyPr wrap="square" lIns="0" tIns="0" rIns="0" bIns="0" rtlCol="0" anchor="ctr"/>
          <a:lstStyle/>
          <a:p>
            <a:pPr indent="0" marL="0">
              <a:buNone/>
            </a:pPr>
            <a:r>
              <a:rPr lang="en-US" sz="1400" b="1" dirty="0">
                <a:solidFill>
                  <a:schemeClr val="tx2"/>
                </a:solidFill>
              </a:rPr>
              <a:t>Follow-ups per case</a:t>
            </a:r>
            <a:endParaRPr lang="en-US" sz="1400" dirty="0"/>
          </a:p>
          <a:p>
            <a:pPr indent="0" marL="0">
              <a:buNone/>
            </a:pPr>
            <a:r>
              <a:rPr lang="en-US" sz="1200" dirty="0">
                <a:solidFill>
                  <a:srgbClr val="5B6377"/>
                </a:solidFill>
              </a:rPr>
              <a:t>goes down</a:t>
            </a:r>
            <a:endParaRPr lang="en-US" sz="1400" dirty="0"/>
          </a:p>
        </p:txBody>
      </p:sp>
      <p:sp>
        <p:nvSpPr>
          <p:cNvPr id="28" name="Days to resolve measure"/>
          <p:cNvSpPr/>
          <p:nvPr/>
        </p:nvSpPr>
        <p:spPr>
          <a:xfrm>
            <a:off x="3364992" y="5074920"/>
            <a:ext cx="2615184" cy="960120"/>
          </a:xfrm>
          <a:prstGeom prst="roundRect">
            <a:avLst>
              <a:gd name="adj" fmla="val 11429"/>
            </a:avLst>
          </a:prstGeom>
          <a:solidFill>
            <a:schemeClr val="bg2"/>
          </a:solidFill>
          <a:ln w="12700">
            <a:solidFill>
              <a:schemeClr val="bg2"/>
            </a:solidFill>
            <a:prstDash val="solid"/>
          </a:ln>
        </p:spPr>
      </p:sp>
      <p:pic>
        <p:nvPicPr>
          <p:cNvPr id="29" name="Image 1" descr="C:\Users\faiqs\AppData\Local\Temp\claude\C--Users-faiqs-Desktop-SIME-DARBY\1db49c24-6d29-4c60-bea1-a1554db1f55f\scratchpad\deck\img\ict-hourglass.png">    </p:cNvPr>
          <p:cNvPicPr>
            <a:picLocks noChangeAspect="1"/>
          </p:cNvPicPr>
          <p:nvPr/>
        </p:nvPicPr>
        <p:blipFill>
          <a:blip r:embed="rId2"/>
          <a:stretch>
            <a:fillRect/>
          </a:stretch>
        </p:blipFill>
        <p:spPr>
          <a:xfrm>
            <a:off x="3547872" y="5285232"/>
            <a:ext cx="457200" cy="457200"/>
          </a:xfrm>
          <a:prstGeom prst="rect">
            <a:avLst/>
          </a:prstGeom>
        </p:spPr>
      </p:pic>
      <p:sp>
        <p:nvSpPr>
          <p:cNvPr id="30" name="Text 26"/>
          <p:cNvSpPr txBox="1"/>
          <p:nvPr/>
        </p:nvSpPr>
        <p:spPr>
          <a:xfrm>
            <a:off x="4142232" y="5074920"/>
            <a:ext cx="1737360" cy="960120"/>
          </a:xfrm>
          <a:prstGeom prst="rect">
            <a:avLst/>
          </a:prstGeom>
          <a:noFill/>
          <a:ln/>
        </p:spPr>
        <p:txBody>
          <a:bodyPr wrap="square" lIns="0" tIns="0" rIns="0" bIns="0" rtlCol="0" anchor="ctr"/>
          <a:lstStyle/>
          <a:p>
            <a:pPr indent="0" marL="0">
              <a:buNone/>
            </a:pPr>
            <a:r>
              <a:rPr lang="en-US" sz="1400" b="1" dirty="0">
                <a:solidFill>
                  <a:schemeClr val="tx2"/>
                </a:solidFill>
              </a:rPr>
              <a:t>Days to resolve</a:t>
            </a:r>
            <a:endParaRPr lang="en-US" sz="1400" dirty="0"/>
          </a:p>
          <a:p>
            <a:pPr indent="0" marL="0">
              <a:buNone/>
            </a:pPr>
            <a:r>
              <a:rPr lang="en-US" sz="1200" dirty="0">
                <a:solidFill>
                  <a:srgbClr val="5B6377"/>
                </a:solidFill>
              </a:rPr>
              <a:t>goes down</a:t>
            </a:r>
            <a:endParaRPr lang="en-US" sz="1400" dirty="0"/>
          </a:p>
        </p:txBody>
      </p:sp>
      <p:sp>
        <p:nvSpPr>
          <p:cNvPr id="31" name="Caught before a complaint measure"/>
          <p:cNvSpPr/>
          <p:nvPr/>
        </p:nvSpPr>
        <p:spPr>
          <a:xfrm>
            <a:off x="6181344" y="5074920"/>
            <a:ext cx="2615184" cy="960120"/>
          </a:xfrm>
          <a:prstGeom prst="roundRect">
            <a:avLst>
              <a:gd name="adj" fmla="val 11429"/>
            </a:avLst>
          </a:prstGeom>
          <a:solidFill>
            <a:schemeClr val="bg2"/>
          </a:solidFill>
          <a:ln w="12700">
            <a:solidFill>
              <a:schemeClr val="bg2"/>
            </a:solidFill>
            <a:prstDash val="solid"/>
          </a:ln>
        </p:spPr>
      </p:sp>
      <p:pic>
        <p:nvPicPr>
          <p:cNvPr id="32" name="Image 2" descr="C:\Users\faiqs\AppData\Local\Temp\claude\C--Users-faiqs-Desktop-SIME-DARBY\1db49c24-6d29-4c60-bea1-a1554db1f55f\scratchpad\deck\img\ict-radar.png">    </p:cNvPr>
          <p:cNvPicPr>
            <a:picLocks noChangeAspect="1"/>
          </p:cNvPicPr>
          <p:nvPr/>
        </p:nvPicPr>
        <p:blipFill>
          <a:blip r:embed="rId3"/>
          <a:stretch>
            <a:fillRect/>
          </a:stretch>
        </p:blipFill>
        <p:spPr>
          <a:xfrm>
            <a:off x="6364224" y="5285232"/>
            <a:ext cx="457200" cy="457200"/>
          </a:xfrm>
          <a:prstGeom prst="rect">
            <a:avLst/>
          </a:prstGeom>
        </p:spPr>
      </p:pic>
      <p:sp>
        <p:nvSpPr>
          <p:cNvPr id="33" name="Text 28"/>
          <p:cNvSpPr txBox="1"/>
          <p:nvPr/>
        </p:nvSpPr>
        <p:spPr>
          <a:xfrm>
            <a:off x="6958584" y="5074920"/>
            <a:ext cx="1737360" cy="960120"/>
          </a:xfrm>
          <a:prstGeom prst="rect">
            <a:avLst/>
          </a:prstGeom>
          <a:noFill/>
          <a:ln/>
        </p:spPr>
        <p:txBody>
          <a:bodyPr wrap="square" lIns="0" tIns="0" rIns="0" bIns="0" rtlCol="0" anchor="ctr"/>
          <a:lstStyle/>
          <a:p>
            <a:pPr indent="0" marL="0">
              <a:buNone/>
            </a:pPr>
            <a:r>
              <a:rPr lang="en-US" sz="1400" b="1" dirty="0">
                <a:solidFill>
                  <a:schemeClr val="tx2"/>
                </a:solidFill>
              </a:rPr>
              <a:t>Caught before a complaint</a:t>
            </a:r>
            <a:endParaRPr lang="en-US" sz="1400" dirty="0"/>
          </a:p>
          <a:p>
            <a:pPr indent="0" marL="0">
              <a:buNone/>
            </a:pPr>
            <a:r>
              <a:rPr lang="en-US" sz="1200" dirty="0">
                <a:solidFill>
                  <a:srgbClr val="5B6377"/>
                </a:solidFill>
              </a:rPr>
              <a:t>goes up</a:t>
            </a:r>
            <a:endParaRPr lang="en-US" sz="1400" dirty="0"/>
          </a:p>
        </p:txBody>
      </p:sp>
      <p:sp>
        <p:nvSpPr>
          <p:cNvPr id="34" name="Emergency repairs measure"/>
          <p:cNvSpPr/>
          <p:nvPr/>
        </p:nvSpPr>
        <p:spPr>
          <a:xfrm>
            <a:off x="8997696" y="5074920"/>
            <a:ext cx="2615184" cy="960120"/>
          </a:xfrm>
          <a:prstGeom prst="roundRect">
            <a:avLst>
              <a:gd name="adj" fmla="val 11429"/>
            </a:avLst>
          </a:prstGeom>
          <a:solidFill>
            <a:schemeClr val="bg2"/>
          </a:solidFill>
          <a:ln w="12700">
            <a:solidFill>
              <a:schemeClr val="bg2"/>
            </a:solidFill>
            <a:prstDash val="solid"/>
          </a:ln>
        </p:spPr>
      </p:sp>
      <p:pic>
        <p:nvPicPr>
          <p:cNvPr id="35" name="Image 3" descr="C:\Users\faiqs\AppData\Local\Temp\claude\C--Users-faiqs-Desktop-SIME-DARBY\1db49c24-6d29-4c60-bea1-a1554db1f55f\scratchpad\deck\img\ict-siren.png">    </p:cNvPr>
          <p:cNvPicPr>
            <a:picLocks noChangeAspect="1"/>
          </p:cNvPicPr>
          <p:nvPr/>
        </p:nvPicPr>
        <p:blipFill>
          <a:blip r:embed="rId4"/>
          <a:stretch>
            <a:fillRect/>
          </a:stretch>
        </p:blipFill>
        <p:spPr>
          <a:xfrm>
            <a:off x="9180576" y="5285232"/>
            <a:ext cx="457200" cy="457200"/>
          </a:xfrm>
          <a:prstGeom prst="rect">
            <a:avLst/>
          </a:prstGeom>
        </p:spPr>
      </p:pic>
      <p:sp>
        <p:nvSpPr>
          <p:cNvPr id="36" name="Text 30"/>
          <p:cNvSpPr txBox="1"/>
          <p:nvPr/>
        </p:nvSpPr>
        <p:spPr>
          <a:xfrm>
            <a:off x="9774936" y="5074920"/>
            <a:ext cx="1737360" cy="960120"/>
          </a:xfrm>
          <a:prstGeom prst="rect">
            <a:avLst/>
          </a:prstGeom>
          <a:noFill/>
          <a:ln/>
        </p:spPr>
        <p:txBody>
          <a:bodyPr wrap="square" lIns="0" tIns="0" rIns="0" bIns="0" rtlCol="0" anchor="ctr"/>
          <a:lstStyle/>
          <a:p>
            <a:pPr indent="0" marL="0">
              <a:buNone/>
            </a:pPr>
            <a:r>
              <a:rPr lang="en-US" sz="1400" b="1" dirty="0">
                <a:solidFill>
                  <a:schemeClr val="tx2"/>
                </a:solidFill>
              </a:rPr>
              <a:t>Emergency repairs</a:t>
            </a:r>
            <a:endParaRPr lang="en-US" sz="1400" dirty="0"/>
          </a:p>
          <a:p>
            <a:pPr indent="0" marL="0">
              <a:buNone/>
            </a:pPr>
            <a:r>
              <a:rPr lang="en-US" sz="1200" dirty="0">
                <a:solidFill>
                  <a:srgbClr val="5B6377"/>
                </a:solidFill>
              </a:rPr>
              <a:t>goes down</a:t>
            </a:r>
            <a:endParaRPr lang="en-US" sz="14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3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29184"/>
          </a:xfrm>
          <a:prstGeom prst="rect">
            <a:avLst/>
          </a:prstGeom>
          <a:noFill/>
          <a:ln/>
        </p:spPr>
        <p:txBody>
          <a:bodyPr wrap="square" lIns="0" tIns="0" rIns="0" bIns="0" rtlCol="0" anchor="t"/>
          <a:lstStyle/>
          <a:p>
            <a:pPr indent="0" marL="0">
              <a:buNone/>
            </a:pPr>
            <a:r>
              <a:rPr lang="en-US" sz="1200" b="1" spc="200" kern="0" dirty="0">
                <a:solidFill>
                  <a:schemeClr val="accent3"/>
                </a:solidFill>
              </a:rPr>
              <a:t>9  ·  WHY OUR TEAM SHOULD WIN</a:t>
            </a:r>
            <a:endParaRPr lang="en-US" sz="1200" dirty="0"/>
          </a:p>
        </p:txBody>
      </p:sp>
      <p:sp>
        <p:nvSpPr>
          <p:cNvPr id="3" name="Text 0"/>
          <p:cNvSpPr/>
          <p:nvPr>
            <p:ph idx="101" type="title" hasCustomPrompt="1"/>
          </p:nvPr>
        </p:nvSpPr>
        <p:spPr>
          <a:xfrm>
            <a:off x="548640" y="694944"/>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One clear problem, solved end to end, and already working</a:t>
            </a:r>
            <a:endParaRPr lang="en-US" sz="3200" dirty="0"/>
          </a:p>
        </p:txBody>
      </p:sp>
      <p:sp>
        <p:nvSpPr>
          <p:cNvPr id="4" name="Statement"/>
          <p:cNvSpPr/>
          <p:nvPr/>
        </p:nvSpPr>
        <p:spPr>
          <a:xfrm>
            <a:off x="548640" y="1783080"/>
            <a:ext cx="6675120" cy="3154680"/>
          </a:xfrm>
          <a:prstGeom prst="roundRect">
            <a:avLst>
              <a:gd name="adj" fmla="val 3478"/>
            </a:avLst>
          </a:prstGeom>
          <a:solidFill>
            <a:srgbClr val="FFFFFF">
              <a:alpha val="10000"/>
            </a:srgbClr>
          </a:solidFill>
          <a:ln w="12700">
            <a:solidFill>
              <a:srgbClr val="FFFFFF">
                <a:alpha val="25000"/>
              </a:srgbClr>
            </a:solidFill>
            <a:prstDash val="solid"/>
          </a:ln>
        </p:spPr>
      </p:sp>
      <p:sp>
        <p:nvSpPr>
          <p:cNvPr id="5" name="Text 3"/>
          <p:cNvSpPr txBox="1"/>
          <p:nvPr/>
        </p:nvSpPr>
        <p:spPr>
          <a:xfrm>
            <a:off x="868680" y="1783080"/>
            <a:ext cx="6035040" cy="3154680"/>
          </a:xfrm>
          <a:prstGeom prst="rect">
            <a:avLst/>
          </a:prstGeom>
          <a:noFill/>
          <a:ln/>
        </p:spPr>
        <p:txBody>
          <a:bodyPr wrap="square" lIns="0" tIns="0" rIns="0" bIns="0" rtlCol="0" anchor="ctr"/>
          <a:lstStyle/>
          <a:p>
            <a:pPr indent="0" marL="0">
              <a:lnSpc>
                <a:spcPct val="112000"/>
              </a:lnSpc>
              <a:buNone/>
            </a:pPr>
            <a:r>
              <a:rPr lang="en-US" sz="1900" dirty="0">
                <a:solidFill>
                  <a:schemeClr val="bg1"/>
                </a:solidFill>
              </a:rPr>
              <a:t>Residents waste time chasing repairs because nobody knows who owns the fix. MetroSense solves exactly that: every report lands in one queue, goes to the right owner and keeps the reporter updated, while forecasts catch failures before anyone complains. It is already a working prototype, built around data SDP townships already have, and ready for a pilot.</a:t>
            </a:r>
            <a:endParaRPr lang="en-US" sz="1900" dirty="0"/>
          </a:p>
        </p:txBody>
      </p:sp>
      <p:sp>
        <p:nvSpPr>
          <p:cNvPr id="6" name="481 proof"/>
          <p:cNvSpPr/>
          <p:nvPr/>
        </p:nvSpPr>
        <p:spPr>
          <a:xfrm>
            <a:off x="7589520" y="1783080"/>
            <a:ext cx="4023360" cy="960120"/>
          </a:xfrm>
          <a:prstGeom prst="roundRect">
            <a:avLst>
              <a:gd name="adj" fmla="val 11429"/>
            </a:avLst>
          </a:prstGeom>
          <a:solidFill>
            <a:srgbClr val="FFFFFF">
              <a:alpha val="10000"/>
            </a:srgbClr>
          </a:solidFill>
          <a:ln w="12700">
            <a:solidFill>
              <a:srgbClr val="FFFFFF">
                <a:alpha val="25000"/>
              </a:srgbClr>
            </a:solidFill>
            <a:prstDash val="solid"/>
          </a:ln>
        </p:spPr>
      </p:sp>
      <p:pic>
        <p:nvPicPr>
          <p:cNvPr id="7" name="Image 0" descr="C:\Users\faiqs\AppData\Local\Temp\claude\C--Users-faiqs-Desktop-SIME-DARBY\1db49c24-6d29-4c60-bea1-a1554db1f55f\scratchpad\deck\img\ic-check.png">    </p:cNvPr>
          <p:cNvPicPr>
            <a:picLocks noChangeAspect="1"/>
          </p:cNvPicPr>
          <p:nvPr/>
        </p:nvPicPr>
        <p:blipFill>
          <a:blip r:embed="rId1"/>
          <a:stretch>
            <a:fillRect/>
          </a:stretch>
        </p:blipFill>
        <p:spPr>
          <a:xfrm>
            <a:off x="7772400" y="2011680"/>
            <a:ext cx="502920" cy="502920"/>
          </a:xfrm>
          <a:prstGeom prst="rect">
            <a:avLst/>
          </a:prstGeom>
        </p:spPr>
      </p:pic>
      <p:sp>
        <p:nvSpPr>
          <p:cNvPr id="8" name="Text 5"/>
          <p:cNvSpPr txBox="1"/>
          <p:nvPr/>
        </p:nvSpPr>
        <p:spPr>
          <a:xfrm>
            <a:off x="8458200" y="1874520"/>
            <a:ext cx="3017520" cy="411480"/>
          </a:xfrm>
          <a:prstGeom prst="rect">
            <a:avLst/>
          </a:prstGeom>
          <a:noFill/>
          <a:ln/>
        </p:spPr>
        <p:txBody>
          <a:bodyPr wrap="square" lIns="0" tIns="0" rIns="0" bIns="0" rtlCol="0" anchor="t"/>
          <a:lstStyle/>
          <a:p>
            <a:pPr indent="0" marL="0">
              <a:buNone/>
            </a:pPr>
            <a:r>
              <a:rPr lang="en-US" sz="2200" b="1" dirty="0">
                <a:solidFill>
                  <a:schemeClr val="accent3"/>
                </a:solidFill>
              </a:rPr>
              <a:t>481</a:t>
            </a:r>
            <a:endParaRPr lang="en-US" sz="2200" dirty="0"/>
          </a:p>
        </p:txBody>
      </p:sp>
      <p:sp>
        <p:nvSpPr>
          <p:cNvPr id="9" name="Text 6"/>
          <p:cNvSpPr txBox="1"/>
          <p:nvPr/>
        </p:nvSpPr>
        <p:spPr>
          <a:xfrm>
            <a:off x="8458200" y="2286000"/>
            <a:ext cx="3017520" cy="365760"/>
          </a:xfrm>
          <a:prstGeom prst="rect">
            <a:avLst/>
          </a:prstGeom>
          <a:noFill/>
          <a:ln/>
        </p:spPr>
        <p:txBody>
          <a:bodyPr wrap="square" lIns="0" tIns="0" rIns="0" bIns="0" rtlCol="0" anchor="t"/>
          <a:lstStyle/>
          <a:p>
            <a:pPr indent="0" marL="0">
              <a:buNone/>
            </a:pPr>
            <a:r>
              <a:rPr lang="en-US" sz="1300" dirty="0">
                <a:solidFill>
                  <a:schemeClr val="bg1"/>
                </a:solidFill>
              </a:rPr>
              <a:t>assets modelled</a:t>
            </a:r>
            <a:endParaRPr lang="en-US" sz="1300" dirty="0"/>
          </a:p>
        </p:txBody>
      </p:sp>
      <p:sp>
        <p:nvSpPr>
          <p:cNvPr id="10" name="5 of 12 proof"/>
          <p:cNvSpPr/>
          <p:nvPr/>
        </p:nvSpPr>
        <p:spPr>
          <a:xfrm>
            <a:off x="7589520" y="2880360"/>
            <a:ext cx="4023360" cy="960120"/>
          </a:xfrm>
          <a:prstGeom prst="roundRect">
            <a:avLst>
              <a:gd name="adj" fmla="val 11429"/>
            </a:avLst>
          </a:prstGeom>
          <a:solidFill>
            <a:srgbClr val="FFFFFF">
              <a:alpha val="10000"/>
            </a:srgbClr>
          </a:solidFill>
          <a:ln w="12700">
            <a:solidFill>
              <a:srgbClr val="FFFFFF">
                <a:alpha val="25000"/>
              </a:srgbClr>
            </a:solidFill>
            <a:prstDash val="solid"/>
          </a:ln>
        </p:spPr>
      </p:sp>
      <p:pic>
        <p:nvPicPr>
          <p:cNvPr id="11" name="Image 1" descr="C:\Users\faiqs\AppData\Local\Temp\claude\C--Users-faiqs-Desktop-SIME-DARBY\1db49c24-6d29-4c60-bea1-a1554db1f55f\scratchpad\deck\img\ic-radar.png">    </p:cNvPr>
          <p:cNvPicPr>
            <a:picLocks noChangeAspect="1"/>
          </p:cNvPicPr>
          <p:nvPr/>
        </p:nvPicPr>
        <p:blipFill>
          <a:blip r:embed="rId2"/>
          <a:stretch>
            <a:fillRect/>
          </a:stretch>
        </p:blipFill>
        <p:spPr>
          <a:xfrm>
            <a:off x="7772400" y="3108960"/>
            <a:ext cx="502920" cy="502920"/>
          </a:xfrm>
          <a:prstGeom prst="rect">
            <a:avLst/>
          </a:prstGeom>
        </p:spPr>
      </p:pic>
      <p:sp>
        <p:nvSpPr>
          <p:cNvPr id="12" name="Text 8"/>
          <p:cNvSpPr txBox="1"/>
          <p:nvPr/>
        </p:nvSpPr>
        <p:spPr>
          <a:xfrm>
            <a:off x="8458200" y="2971800"/>
            <a:ext cx="3017520" cy="411480"/>
          </a:xfrm>
          <a:prstGeom prst="rect">
            <a:avLst/>
          </a:prstGeom>
          <a:noFill/>
          <a:ln/>
        </p:spPr>
        <p:txBody>
          <a:bodyPr wrap="square" lIns="0" tIns="0" rIns="0" bIns="0" rtlCol="0" anchor="t"/>
          <a:lstStyle/>
          <a:p>
            <a:pPr indent="0" marL="0">
              <a:buNone/>
            </a:pPr>
            <a:r>
              <a:rPr lang="en-US" sz="2200" b="1" dirty="0">
                <a:solidFill>
                  <a:schemeClr val="accent3"/>
                </a:solidFill>
              </a:rPr>
              <a:t>5 of 12</a:t>
            </a:r>
            <a:endParaRPr lang="en-US" sz="2200" dirty="0"/>
          </a:p>
        </p:txBody>
      </p:sp>
      <p:sp>
        <p:nvSpPr>
          <p:cNvPr id="13" name="Text 9"/>
          <p:cNvSpPr txBox="1"/>
          <p:nvPr/>
        </p:nvSpPr>
        <p:spPr>
          <a:xfrm>
            <a:off x="8458200" y="3383280"/>
            <a:ext cx="3017520" cy="365760"/>
          </a:xfrm>
          <a:prstGeom prst="rect">
            <a:avLst/>
          </a:prstGeom>
          <a:noFill/>
          <a:ln/>
        </p:spPr>
        <p:txBody>
          <a:bodyPr wrap="square" lIns="0" tIns="0" rIns="0" bIns="0" rtlCol="0" anchor="t"/>
          <a:lstStyle/>
          <a:p>
            <a:pPr indent="0" marL="0">
              <a:buNone/>
            </a:pPr>
            <a:r>
              <a:rPr lang="en-US" sz="1300" dirty="0">
                <a:solidFill>
                  <a:schemeClr val="bg1"/>
                </a:solidFill>
              </a:rPr>
              <a:t>cases raised before a complaint</a:t>
            </a:r>
            <a:endParaRPr lang="en-US" sz="1300" dirty="0"/>
          </a:p>
        </p:txBody>
      </p:sp>
      <p:sp>
        <p:nvSpPr>
          <p:cNvPr id="14" name="1 queue proof"/>
          <p:cNvSpPr/>
          <p:nvPr/>
        </p:nvSpPr>
        <p:spPr>
          <a:xfrm>
            <a:off x="7589520" y="3977640"/>
            <a:ext cx="4023360" cy="960120"/>
          </a:xfrm>
          <a:prstGeom prst="roundRect">
            <a:avLst>
              <a:gd name="adj" fmla="val 11429"/>
            </a:avLst>
          </a:prstGeom>
          <a:solidFill>
            <a:srgbClr val="FFFFFF">
              <a:alpha val="10000"/>
            </a:srgbClr>
          </a:solidFill>
          <a:ln w="12700">
            <a:solidFill>
              <a:srgbClr val="FFFFFF">
                <a:alpha val="25000"/>
              </a:srgbClr>
            </a:solidFill>
            <a:prstDash val="solid"/>
          </a:ln>
        </p:spPr>
      </p:sp>
      <p:pic>
        <p:nvPicPr>
          <p:cNvPr id="15" name="Image 2" descr="C:\Users\faiqs\AppData\Local\Temp\claude\C--Users-faiqs-Desktop-SIME-DARBY\1db49c24-6d29-4c60-bea1-a1554db1f55f\scratchpad\deck\img\ic-message.png">    </p:cNvPr>
          <p:cNvPicPr>
            <a:picLocks noChangeAspect="1"/>
          </p:cNvPicPr>
          <p:nvPr/>
        </p:nvPicPr>
        <p:blipFill>
          <a:blip r:embed="rId3"/>
          <a:stretch>
            <a:fillRect/>
          </a:stretch>
        </p:blipFill>
        <p:spPr>
          <a:xfrm>
            <a:off x="7772400" y="4206240"/>
            <a:ext cx="502920" cy="502920"/>
          </a:xfrm>
          <a:prstGeom prst="rect">
            <a:avLst/>
          </a:prstGeom>
        </p:spPr>
      </p:pic>
      <p:sp>
        <p:nvSpPr>
          <p:cNvPr id="16" name="Text 11"/>
          <p:cNvSpPr txBox="1"/>
          <p:nvPr/>
        </p:nvSpPr>
        <p:spPr>
          <a:xfrm>
            <a:off x="8458200" y="4069080"/>
            <a:ext cx="3017520" cy="411480"/>
          </a:xfrm>
          <a:prstGeom prst="rect">
            <a:avLst/>
          </a:prstGeom>
          <a:noFill/>
          <a:ln/>
        </p:spPr>
        <p:txBody>
          <a:bodyPr wrap="square" lIns="0" tIns="0" rIns="0" bIns="0" rtlCol="0" anchor="t"/>
          <a:lstStyle/>
          <a:p>
            <a:pPr indent="0" marL="0">
              <a:buNone/>
            </a:pPr>
            <a:r>
              <a:rPr lang="en-US" sz="2200" b="1" dirty="0">
                <a:solidFill>
                  <a:schemeClr val="accent3"/>
                </a:solidFill>
              </a:rPr>
              <a:t>1 queue</a:t>
            </a:r>
            <a:endParaRPr lang="en-US" sz="2200" dirty="0"/>
          </a:p>
        </p:txBody>
      </p:sp>
      <p:sp>
        <p:nvSpPr>
          <p:cNvPr id="17" name="Text 12"/>
          <p:cNvSpPr txBox="1"/>
          <p:nvPr/>
        </p:nvSpPr>
        <p:spPr>
          <a:xfrm>
            <a:off x="8458200" y="4480560"/>
            <a:ext cx="3017520" cy="365760"/>
          </a:xfrm>
          <a:prstGeom prst="rect">
            <a:avLst/>
          </a:prstGeom>
          <a:noFill/>
          <a:ln/>
        </p:spPr>
        <p:txBody>
          <a:bodyPr wrap="square" lIns="0" tIns="0" rIns="0" bIns="0" rtlCol="0" anchor="t"/>
          <a:lstStyle/>
          <a:p>
            <a:pPr indent="0" marL="0">
              <a:buNone/>
            </a:pPr>
            <a:r>
              <a:rPr lang="en-US" sz="1300" dirty="0">
                <a:solidFill>
                  <a:schemeClr val="bg1"/>
                </a:solidFill>
              </a:rPr>
              <a:t>for every report channel</a:t>
            </a:r>
            <a:endParaRPr lang="en-US" sz="1300" dirty="0"/>
          </a:p>
        </p:txBody>
      </p:sp>
      <p:sp>
        <p:nvSpPr>
          <p:cNvPr id="18" name="Thank you"/>
          <p:cNvSpPr/>
          <p:nvPr/>
        </p:nvSpPr>
        <p:spPr>
          <a:xfrm>
            <a:off x="548640" y="5257800"/>
            <a:ext cx="11064240" cy="868680"/>
          </a:xfrm>
          <a:prstGeom prst="roundRect">
            <a:avLst>
              <a:gd name="adj" fmla="val 12632"/>
            </a:avLst>
          </a:prstGeom>
          <a:solidFill>
            <a:schemeClr val="bg1"/>
          </a:solidFill>
          <a:ln w="12700">
            <a:solidFill>
              <a:schemeClr val="bg1"/>
            </a:solidFill>
            <a:prstDash val="solid"/>
          </a:ln>
        </p:spPr>
      </p:sp>
      <p:sp>
        <p:nvSpPr>
          <p:cNvPr id="19" name="Text 14"/>
          <p:cNvSpPr txBox="1"/>
          <p:nvPr/>
        </p:nvSpPr>
        <p:spPr>
          <a:xfrm>
            <a:off x="822960" y="5257800"/>
            <a:ext cx="2743200" cy="868680"/>
          </a:xfrm>
          <a:prstGeom prst="rect">
            <a:avLst/>
          </a:prstGeom>
          <a:noFill/>
          <a:ln/>
        </p:spPr>
        <p:txBody>
          <a:bodyPr wrap="square" lIns="0" tIns="0" rIns="0" bIns="0" rtlCol="0" anchor="ctr"/>
          <a:lstStyle/>
          <a:p>
            <a:pPr indent="0" marL="0">
              <a:buNone/>
            </a:pPr>
            <a:r>
              <a:rPr lang="en-US" sz="2600" b="1" dirty="0">
                <a:solidFill>
                  <a:schemeClr val="tx2"/>
                </a:solidFill>
              </a:rPr>
              <a:t>Thank you</a:t>
            </a:r>
            <a:endParaRPr lang="en-US" sz="2600" dirty="0"/>
          </a:p>
        </p:txBody>
      </p:sp>
      <p:sp>
        <p:nvSpPr>
          <p:cNvPr id="20" name="Text 15"/>
          <p:cNvSpPr txBox="1"/>
          <p:nvPr/>
        </p:nvSpPr>
        <p:spPr>
          <a:xfrm>
            <a:off x="3657600" y="5257800"/>
            <a:ext cx="7772400" cy="868680"/>
          </a:xfrm>
          <a:prstGeom prst="rect">
            <a:avLst/>
          </a:prstGeom>
          <a:noFill/>
          <a:ln/>
        </p:spPr>
        <p:txBody>
          <a:bodyPr wrap="square" lIns="0" tIns="0" rIns="0" bIns="0" rtlCol="0" anchor="ctr"/>
          <a:lstStyle/>
          <a:p>
            <a:pPr indent="0" marL="0">
              <a:buNone/>
            </a:pPr>
            <a:r>
              <a:rPr lang="en-US" sz="1500" b="1" dirty="0">
                <a:solidFill>
                  <a:schemeClr val="accent1"/>
                </a:solidFill>
              </a:rPr>
              <a:t>Demo  </a:t>
            </a:r>
            <a:pPr indent="0" marL="0">
              <a:buNone/>
            </a:pPr>
            <a:r>
              <a:rPr lang="en-US" sz="1500" dirty="0">
                <a:solidFill>
                  <a:schemeClr val="tx1"/>
                </a:solidFill>
              </a:rPr>
              <a:t>[hosted link]      </a:t>
            </a:r>
            <a:pPr indent="0" marL="0">
              <a:buNone/>
            </a:pPr>
            <a:r>
              <a:rPr lang="en-US" sz="1500" b="1" dirty="0">
                <a:solidFill>
                  <a:schemeClr val="accent1"/>
                </a:solidFill>
              </a:rPr>
              <a:t>Code  </a:t>
            </a:r>
            <a:pPr indent="0" marL="0">
              <a:buNone/>
            </a:pPr>
            <a:r>
              <a:rPr lang="en-US" sz="1500" dirty="0">
                <a:solidFill>
                  <a:schemeClr val="tx1"/>
                </a:solidFill>
              </a:rPr>
              <a:t>[GitHub link]</a:t>
            </a:r>
            <a:endParaRPr lang="en-US" sz="1500" dirty="0"/>
          </a:p>
        </p:txBody>
      </p:sp>
      <p:sp>
        <p:nvSpPr>
          <p:cNvPr id="25" name="Slide Number Placeholder 0"/>
          <p:cNvSpPr>
            <a:spLocks noGrp="1"/>
          </p:cNvSpPr>
          <p:nvPr>
            <p:ph type="sldNum" sz="quarter" idx="4294967295"/>
          </p:nvPr>
        </p:nvSpPr>
        <p:spPr>
          <a:xfrm>
            <a:off x="11201400" y="6355080"/>
            <a:ext cx="457200"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C9D3EA"/>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etroSense">
  <a:themeElements>
    <a:clrScheme name="MetroSense">
      <a:dk1>
        <a:srgbClr val="1B2238"/>
      </a:dk1>
      <a:lt1>
        <a:srgbClr val="FFFFFF"/>
      </a:lt1>
      <a:dk2>
        <a:srgbClr val="14234A"/>
      </a:dk2>
      <a:lt2>
        <a:srgbClr val="F3F5F9"/>
      </a:lt2>
      <a:accent1>
        <a:srgbClr val="E8591F"/>
      </a:accent1>
      <a:accent2>
        <a:srgbClr val="0E7C86"/>
      </a:accent2>
      <a:accent3>
        <a:srgbClr val="F6A01A"/>
      </a:accent3>
      <a:accent4>
        <a:srgbClr val="2B4A8A"/>
      </a:accent4>
      <a:accent5>
        <a:srgbClr val="CC2B2B"/>
      </a:accent5>
      <a:accent6>
        <a:srgbClr val="2E9A57"/>
      </a:accent6>
      <a:hlink>
        <a:srgbClr val="2B4A8A"/>
      </a:hlink>
      <a:folHlink>
        <a:srgbClr val="5B6377"/>
      </a:folHlink>
    </a:clrScheme>
    <a:fontScheme name="MetroSen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MetroSense pitch deck</dc:title>
  <dc:subject>SDP University Hackathon 2026, PEOPLE theme</dc:subject>
  <dc:creator>MetroSense team</dc:creator>
  <cp:lastModifiedBy>MetroSense team</cp:lastModifiedBy>
  <cp:revision>1</cp:revision>
  <dcterms:created xsi:type="dcterms:W3CDTF">2026-10-23T03:49:44Z</dcterms:created>
  <dcterms:modified xsi:type="dcterms:W3CDTF">2026-10-23T03:49:44Z</dcterms:modified>
</cp:coreProperties>
</file>